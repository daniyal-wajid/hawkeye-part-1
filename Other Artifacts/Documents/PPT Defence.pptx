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531" r:id="rId2"/>
    <p:sldId id="514" r:id="rId3"/>
    <p:sldId id="515" r:id="rId4"/>
    <p:sldId id="543" r:id="rId5"/>
    <p:sldId id="517" r:id="rId6"/>
    <p:sldId id="518" r:id="rId7"/>
    <p:sldId id="542" r:id="rId8"/>
    <p:sldId id="520" r:id="rId9"/>
    <p:sldId id="521" r:id="rId10"/>
    <p:sldId id="532" r:id="rId11"/>
    <p:sldId id="552" r:id="rId12"/>
    <p:sldId id="553" r:id="rId13"/>
    <p:sldId id="554" r:id="rId14"/>
    <p:sldId id="555" r:id="rId15"/>
    <p:sldId id="533" r:id="rId16"/>
    <p:sldId id="523" r:id="rId17"/>
    <p:sldId id="540" r:id="rId18"/>
    <p:sldId id="539" r:id="rId19"/>
    <p:sldId id="534" r:id="rId20"/>
    <p:sldId id="535" r:id="rId21"/>
    <p:sldId id="544" r:id="rId22"/>
    <p:sldId id="536" r:id="rId23"/>
    <p:sldId id="524" r:id="rId24"/>
    <p:sldId id="527" r:id="rId25"/>
    <p:sldId id="529" r:id="rId26"/>
    <p:sldId id="545" r:id="rId27"/>
    <p:sldId id="546" r:id="rId28"/>
    <p:sldId id="547" r:id="rId29"/>
    <p:sldId id="548" r:id="rId30"/>
    <p:sldId id="549" r:id="rId31"/>
    <p:sldId id="550" r:id="rId32"/>
    <p:sldId id="551" r:id="rId33"/>
    <p:sldId id="511"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2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18" autoAdjust="0"/>
    <p:restoredTop sz="94660"/>
  </p:normalViewPr>
  <p:slideViewPr>
    <p:cSldViewPr snapToGrid="0">
      <p:cViewPr>
        <p:scale>
          <a:sx n="60" d="100"/>
          <a:sy n="60" d="100"/>
        </p:scale>
        <p:origin x="1040"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A761FF-92E2-4234-80E7-FBCD75CC8193}" type="datetimeFigureOut">
              <a:rPr lang="en-US" smtClean="0"/>
              <a:t>12/13/2025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EEACC8-8594-4EF4-A2AA-C13BFE02B832}" type="slidenum">
              <a:rPr lang="en-US" smtClean="0"/>
              <a:t>‹#›</a:t>
            </a:fld>
            <a:endParaRPr lang="en-US"/>
          </a:p>
        </p:txBody>
      </p:sp>
    </p:spTree>
    <p:extLst>
      <p:ext uri="{BB962C8B-B14F-4D97-AF65-F5344CB8AC3E}">
        <p14:creationId xmlns:p14="http://schemas.microsoft.com/office/powerpoint/2010/main" val="3818491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23196-A33F-405A-A3DE-E65EA0B64921}"/>
              </a:ext>
            </a:extLst>
          </p:cNvPr>
          <p:cNvSpPr>
            <a:spLocks noGrp="1"/>
          </p:cNvSpPr>
          <p:nvPr>
            <p:ph type="ctrTitle"/>
          </p:nvPr>
        </p:nvSpPr>
        <p:spPr>
          <a:xfrm>
            <a:off x="975357" y="2493968"/>
            <a:ext cx="10241280" cy="2387600"/>
          </a:xfrm>
        </p:spPr>
        <p:txBody>
          <a:bodyPr anchor="b">
            <a:normAutofit/>
          </a:bodyPr>
          <a:lstStyle>
            <a:lvl1pPr algn="l">
              <a:defRPr sz="4800">
                <a:solidFill>
                  <a:schemeClr val="tx1"/>
                </a:solidFill>
                <a:latin typeface="Segoe UI Light" panose="020B0502040204020203" pitchFamily="34" charset="0"/>
                <a:cs typeface="Segoe UI Light" panose="020B0502040204020203"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2B8DDF34-E2BB-43F2-85F4-069818E1F189}"/>
              </a:ext>
            </a:extLst>
          </p:cNvPr>
          <p:cNvSpPr>
            <a:spLocks noGrp="1"/>
          </p:cNvSpPr>
          <p:nvPr>
            <p:ph type="subTitle" idx="1"/>
          </p:nvPr>
        </p:nvSpPr>
        <p:spPr>
          <a:xfrm>
            <a:off x="979712" y="4973643"/>
            <a:ext cx="10241280" cy="1192029"/>
          </a:xfrm>
        </p:spPr>
        <p:txBody>
          <a:bodyPr/>
          <a:lstStyle>
            <a:lvl1pPr marL="0" indent="0" algn="l">
              <a:buNone/>
              <a:defRPr sz="2400">
                <a:solidFill>
                  <a:schemeClr val="tx1"/>
                </a:solidFill>
                <a:latin typeface="Segoe UI Light" panose="020B0502040204020203" pitchFamily="34" charset="0"/>
                <a:cs typeface="Segoe UI Ligh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A464D30-3CD0-4F9A-A77F-A322AC670CF7}"/>
              </a:ext>
            </a:extLst>
          </p:cNvPr>
          <p:cNvSpPr>
            <a:spLocks noGrp="1"/>
          </p:cNvSpPr>
          <p:nvPr>
            <p:ph type="dt" sz="half" idx="10"/>
          </p:nvPr>
        </p:nvSpPr>
        <p:spPr/>
        <p:txBody>
          <a:bodyPr/>
          <a:lstStyle/>
          <a:p>
            <a:fld id="{E2FC9351-6833-4ACA-9B0E-1AFDFBD3FC6C}" type="datetimeFigureOut">
              <a:rPr lang="en-US" smtClean="0"/>
              <a:t>12/13/2025</a:t>
            </a:fld>
            <a:endParaRPr lang="en-US"/>
          </a:p>
        </p:txBody>
      </p:sp>
      <p:sp>
        <p:nvSpPr>
          <p:cNvPr id="5" name="Footer Placeholder 4">
            <a:extLst>
              <a:ext uri="{FF2B5EF4-FFF2-40B4-BE49-F238E27FC236}">
                <a16:creationId xmlns:a16="http://schemas.microsoft.com/office/drawing/2014/main" id="{F19CDDF7-0A95-4B38-9529-74BF221517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C8A9F-4336-4D54-85CA-F423B9E8F540}"/>
              </a:ext>
            </a:extLst>
          </p:cNvPr>
          <p:cNvSpPr>
            <a:spLocks noGrp="1"/>
          </p:cNvSpPr>
          <p:nvPr>
            <p:ph type="sldNum" sz="quarter" idx="12"/>
          </p:nvPr>
        </p:nvSpPr>
        <p:spPr/>
        <p:txBody>
          <a:bodyPr/>
          <a:lstStyle/>
          <a:p>
            <a:fld id="{CF9D6553-B421-4DB6-AAE8-4917336B08FE}" type="slidenum">
              <a:rPr lang="en-US" smtClean="0"/>
              <a:t>‹#›</a:t>
            </a:fld>
            <a:endParaRPr lang="en-US"/>
          </a:p>
        </p:txBody>
      </p:sp>
      <p:pic>
        <p:nvPicPr>
          <p:cNvPr id="10" name="Picture 9" descr="Logo&#10;&#10;Description automatically generated">
            <a:extLst>
              <a:ext uri="{FF2B5EF4-FFF2-40B4-BE49-F238E27FC236}">
                <a16:creationId xmlns:a16="http://schemas.microsoft.com/office/drawing/2014/main" id="{C1D07459-AC3E-4FA2-9957-8F6D3360C9EF}"/>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5367189" y="581412"/>
            <a:ext cx="1457616" cy="1950072"/>
          </a:xfrm>
          <a:prstGeom prst="rect">
            <a:avLst/>
          </a:prstGeom>
        </p:spPr>
      </p:pic>
    </p:spTree>
    <p:extLst>
      <p:ext uri="{BB962C8B-B14F-4D97-AF65-F5344CB8AC3E}">
        <p14:creationId xmlns:p14="http://schemas.microsoft.com/office/powerpoint/2010/main" val="1753674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3736D-E58B-4D29-9086-02B8A6B615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0800F8-FC3E-4721-B0ED-8902749C687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7C1CA4-3E0E-41E0-8F98-74DDE731AFA8}"/>
              </a:ext>
            </a:extLst>
          </p:cNvPr>
          <p:cNvSpPr>
            <a:spLocks noGrp="1"/>
          </p:cNvSpPr>
          <p:nvPr>
            <p:ph type="dt" sz="half" idx="10"/>
          </p:nvPr>
        </p:nvSpPr>
        <p:spPr/>
        <p:txBody>
          <a:bodyPr/>
          <a:lstStyle/>
          <a:p>
            <a:fld id="{E2FC9351-6833-4ACA-9B0E-1AFDFBD3FC6C}" type="datetimeFigureOut">
              <a:rPr lang="en-US" smtClean="0"/>
              <a:t>12/13/2025</a:t>
            </a:fld>
            <a:endParaRPr lang="en-US"/>
          </a:p>
        </p:txBody>
      </p:sp>
      <p:sp>
        <p:nvSpPr>
          <p:cNvPr id="5" name="Footer Placeholder 4">
            <a:extLst>
              <a:ext uri="{FF2B5EF4-FFF2-40B4-BE49-F238E27FC236}">
                <a16:creationId xmlns:a16="http://schemas.microsoft.com/office/drawing/2014/main" id="{9227B61E-9F7F-4A82-9D52-33857916CF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5508C7-3042-4AEC-A64C-A1A51B9206A3}"/>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1792088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82AE658-E345-4A7E-B957-C48E61DCA2AF}"/>
              </a:ext>
            </a:extLst>
          </p:cNvPr>
          <p:cNvSpPr/>
          <p:nvPr userDrawn="1"/>
        </p:nvSpPr>
        <p:spPr bwMode="blackWhite">
          <a:xfrm>
            <a:off x="600891" y="1306286"/>
            <a:ext cx="10985862" cy="4336869"/>
          </a:xfrm>
          <a:prstGeom prst="rect">
            <a:avLst/>
          </a:prstGeom>
          <a:solidFill>
            <a:srgbClr val="0082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a:extLst>
              <a:ext uri="{FF2B5EF4-FFF2-40B4-BE49-F238E27FC236}">
                <a16:creationId xmlns:a16="http://schemas.microsoft.com/office/drawing/2014/main" id="{6A7D18A4-081D-4AB0-B6A5-98E60F5333AF}"/>
              </a:ext>
            </a:extLst>
          </p:cNvPr>
          <p:cNvSpPr>
            <a:spLocks noGrp="1"/>
          </p:cNvSpPr>
          <p:nvPr>
            <p:ph type="title"/>
          </p:nvPr>
        </p:nvSpPr>
        <p:spPr>
          <a:xfrm>
            <a:off x="831850" y="1449978"/>
            <a:ext cx="10515600" cy="2525418"/>
          </a:xfrm>
        </p:spPr>
        <p:txBody>
          <a:bodyPr anchor="b">
            <a:normAutofit/>
          </a:bodyPr>
          <a:lstStyle>
            <a:lvl1pPr>
              <a:defRPr sz="4800">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C9BD6873-EE8E-46A9-994B-0A1F24F022B6}"/>
              </a:ext>
            </a:extLst>
          </p:cNvPr>
          <p:cNvSpPr>
            <a:spLocks noGrp="1"/>
          </p:cNvSpPr>
          <p:nvPr>
            <p:ph type="body" idx="1"/>
          </p:nvPr>
        </p:nvSpPr>
        <p:spPr>
          <a:xfrm>
            <a:off x="831850" y="4027761"/>
            <a:ext cx="10515600" cy="1500187"/>
          </a:xfrm>
        </p:spPr>
        <p:txBody>
          <a:bodyPr/>
          <a:lstStyle>
            <a:lvl1pPr marL="0" indent="0">
              <a:buNone/>
              <a:defRPr sz="2400">
                <a:solidFill>
                  <a:schemeClr val="bg1">
                    <a:lumMod val="8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a:extLst>
              <a:ext uri="{FF2B5EF4-FFF2-40B4-BE49-F238E27FC236}">
                <a16:creationId xmlns:a16="http://schemas.microsoft.com/office/drawing/2014/main" id="{35BB9049-81FB-47DE-BC22-FC8CB90B465A}"/>
              </a:ext>
            </a:extLst>
          </p:cNvPr>
          <p:cNvSpPr>
            <a:spLocks noGrp="1"/>
          </p:cNvSpPr>
          <p:nvPr>
            <p:ph type="dt" sz="half" idx="10"/>
          </p:nvPr>
        </p:nvSpPr>
        <p:spPr/>
        <p:txBody>
          <a:bodyPr/>
          <a:lstStyle/>
          <a:p>
            <a:fld id="{E2FC9351-6833-4ACA-9B0E-1AFDFBD3FC6C}" type="datetimeFigureOut">
              <a:rPr lang="en-US" smtClean="0"/>
              <a:t>12/13/2025</a:t>
            </a:fld>
            <a:endParaRPr lang="en-US"/>
          </a:p>
        </p:txBody>
      </p:sp>
      <p:sp>
        <p:nvSpPr>
          <p:cNvPr id="5" name="Footer Placeholder 4">
            <a:extLst>
              <a:ext uri="{FF2B5EF4-FFF2-40B4-BE49-F238E27FC236}">
                <a16:creationId xmlns:a16="http://schemas.microsoft.com/office/drawing/2014/main" id="{E5D20606-8536-4F85-ADF0-CD07B80830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72E88A-E88A-4C26-9953-80DE987CCD10}"/>
              </a:ext>
            </a:extLst>
          </p:cNvPr>
          <p:cNvSpPr>
            <a:spLocks noGrp="1"/>
          </p:cNvSpPr>
          <p:nvPr>
            <p:ph type="sldNum" sz="quarter" idx="12"/>
          </p:nvPr>
        </p:nvSpPr>
        <p:spPr/>
        <p:txBody>
          <a:bodyPr/>
          <a:lstStyle/>
          <a:p>
            <a:fld id="{CF9D6553-B421-4DB6-AAE8-4917336B08FE}" type="slidenum">
              <a:rPr lang="en-US" smtClean="0"/>
              <a:t>‹#›</a:t>
            </a:fld>
            <a:endParaRPr lang="en-US"/>
          </a:p>
        </p:txBody>
      </p:sp>
      <p:cxnSp>
        <p:nvCxnSpPr>
          <p:cNvPr id="8" name="Straight Connector 7">
            <a:extLst>
              <a:ext uri="{FF2B5EF4-FFF2-40B4-BE49-F238E27FC236}">
                <a16:creationId xmlns:a16="http://schemas.microsoft.com/office/drawing/2014/main" id="{E8B3952E-7D75-47BC-8494-456AFF21E83B}"/>
              </a:ext>
            </a:extLst>
          </p:cNvPr>
          <p:cNvCxnSpPr/>
          <p:nvPr userDrawn="1"/>
        </p:nvCxnSpPr>
        <p:spPr>
          <a:xfrm>
            <a:off x="604434" y="5742281"/>
            <a:ext cx="10983132" cy="0"/>
          </a:xfrm>
          <a:prstGeom prst="line">
            <a:avLst/>
          </a:prstGeom>
          <a:ln w="25400">
            <a:solidFill>
              <a:srgbClr val="00828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4844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9413C-8E0C-4B93-850A-39F479B6C1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63DE09-8F52-4D11-8BA0-A92771EFCCA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D59579-B048-497A-8815-81BB51C73D5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AF23EB-3E52-4FE6-841D-5D8B38AAF1F4}"/>
              </a:ext>
            </a:extLst>
          </p:cNvPr>
          <p:cNvSpPr>
            <a:spLocks noGrp="1"/>
          </p:cNvSpPr>
          <p:nvPr>
            <p:ph type="dt" sz="half" idx="10"/>
          </p:nvPr>
        </p:nvSpPr>
        <p:spPr/>
        <p:txBody>
          <a:bodyPr/>
          <a:lstStyle/>
          <a:p>
            <a:fld id="{E2FC9351-6833-4ACA-9B0E-1AFDFBD3FC6C}" type="datetimeFigureOut">
              <a:rPr lang="en-US" smtClean="0"/>
              <a:t>12/13/2025</a:t>
            </a:fld>
            <a:endParaRPr lang="en-US"/>
          </a:p>
        </p:txBody>
      </p:sp>
      <p:sp>
        <p:nvSpPr>
          <p:cNvPr id="6" name="Footer Placeholder 5">
            <a:extLst>
              <a:ext uri="{FF2B5EF4-FFF2-40B4-BE49-F238E27FC236}">
                <a16:creationId xmlns:a16="http://schemas.microsoft.com/office/drawing/2014/main" id="{DAB1F21C-B193-44DE-817B-B003DDA098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8E9138-3256-4702-B822-01FFF926F9B0}"/>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3743533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B60DD-6C4B-4C38-9C87-9CF583E8C3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03603BC-A5E7-4C69-B59B-A364CCB17E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38BB681-AD2D-4F18-BF73-02ED2BCFDA4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4073B8-FA48-4C77-939B-79E50CFD0B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FF3B8D1-CBBB-417B-A60F-A3590869A55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2E939C-4A13-4E2C-92AF-72F3159569D0}"/>
              </a:ext>
            </a:extLst>
          </p:cNvPr>
          <p:cNvSpPr>
            <a:spLocks noGrp="1"/>
          </p:cNvSpPr>
          <p:nvPr>
            <p:ph type="dt" sz="half" idx="10"/>
          </p:nvPr>
        </p:nvSpPr>
        <p:spPr/>
        <p:txBody>
          <a:bodyPr/>
          <a:lstStyle/>
          <a:p>
            <a:fld id="{E2FC9351-6833-4ACA-9B0E-1AFDFBD3FC6C}" type="datetimeFigureOut">
              <a:rPr lang="en-US" smtClean="0"/>
              <a:t>12/13/2025</a:t>
            </a:fld>
            <a:endParaRPr lang="en-US"/>
          </a:p>
        </p:txBody>
      </p:sp>
      <p:sp>
        <p:nvSpPr>
          <p:cNvPr id="8" name="Footer Placeholder 7">
            <a:extLst>
              <a:ext uri="{FF2B5EF4-FFF2-40B4-BE49-F238E27FC236}">
                <a16:creationId xmlns:a16="http://schemas.microsoft.com/office/drawing/2014/main" id="{C98EC41B-C16F-460F-962E-879AF244E3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0C5EAE-86C2-47E1-9953-4D207E259A61}"/>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182231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F7C78-7B84-4CD3-B25A-446A2507B2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87CB65-E1DC-4DA3-85D3-2714C709031D}"/>
              </a:ext>
            </a:extLst>
          </p:cNvPr>
          <p:cNvSpPr>
            <a:spLocks noGrp="1"/>
          </p:cNvSpPr>
          <p:nvPr>
            <p:ph type="dt" sz="half" idx="10"/>
          </p:nvPr>
        </p:nvSpPr>
        <p:spPr/>
        <p:txBody>
          <a:bodyPr/>
          <a:lstStyle/>
          <a:p>
            <a:fld id="{E2FC9351-6833-4ACA-9B0E-1AFDFBD3FC6C}" type="datetimeFigureOut">
              <a:rPr lang="en-US" smtClean="0"/>
              <a:t>12/13/2025</a:t>
            </a:fld>
            <a:endParaRPr lang="en-US"/>
          </a:p>
        </p:txBody>
      </p:sp>
      <p:sp>
        <p:nvSpPr>
          <p:cNvPr id="4" name="Footer Placeholder 3">
            <a:extLst>
              <a:ext uri="{FF2B5EF4-FFF2-40B4-BE49-F238E27FC236}">
                <a16:creationId xmlns:a16="http://schemas.microsoft.com/office/drawing/2014/main" id="{E17F9BF6-3773-485D-B941-2C02395885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4A6C13-26E2-4A34-AC7F-F5A1EA2F6172}"/>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498142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900817-6CD2-422A-855E-AD0A6708C86B}"/>
              </a:ext>
            </a:extLst>
          </p:cNvPr>
          <p:cNvSpPr>
            <a:spLocks noGrp="1"/>
          </p:cNvSpPr>
          <p:nvPr>
            <p:ph type="dt" sz="half" idx="10"/>
          </p:nvPr>
        </p:nvSpPr>
        <p:spPr/>
        <p:txBody>
          <a:bodyPr/>
          <a:lstStyle/>
          <a:p>
            <a:fld id="{E2FC9351-6833-4ACA-9B0E-1AFDFBD3FC6C}" type="datetimeFigureOut">
              <a:rPr lang="en-US" smtClean="0"/>
              <a:t>12/13/2025</a:t>
            </a:fld>
            <a:endParaRPr lang="en-US"/>
          </a:p>
        </p:txBody>
      </p:sp>
      <p:sp>
        <p:nvSpPr>
          <p:cNvPr id="3" name="Footer Placeholder 2">
            <a:extLst>
              <a:ext uri="{FF2B5EF4-FFF2-40B4-BE49-F238E27FC236}">
                <a16:creationId xmlns:a16="http://schemas.microsoft.com/office/drawing/2014/main" id="{D6B33825-85ED-4313-A29D-85E65442E5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A08418-9D83-47C8-948D-21CB87AA2E3C}"/>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3939319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444A9-0387-4F45-8372-DEE70D4183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6E7BF2-938B-4507-943A-485887FA2A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7A17A7-8150-47FE-BEF0-917A573017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BF71A09-BFD0-4013-B1E8-3481D3A0A7FE}"/>
              </a:ext>
            </a:extLst>
          </p:cNvPr>
          <p:cNvSpPr>
            <a:spLocks noGrp="1"/>
          </p:cNvSpPr>
          <p:nvPr>
            <p:ph type="dt" sz="half" idx="10"/>
          </p:nvPr>
        </p:nvSpPr>
        <p:spPr/>
        <p:txBody>
          <a:bodyPr/>
          <a:lstStyle/>
          <a:p>
            <a:fld id="{E2FC9351-6833-4ACA-9B0E-1AFDFBD3FC6C}" type="datetimeFigureOut">
              <a:rPr lang="en-US" smtClean="0"/>
              <a:t>12/13/2025</a:t>
            </a:fld>
            <a:endParaRPr lang="en-US"/>
          </a:p>
        </p:txBody>
      </p:sp>
      <p:sp>
        <p:nvSpPr>
          <p:cNvPr id="6" name="Footer Placeholder 5">
            <a:extLst>
              <a:ext uri="{FF2B5EF4-FFF2-40B4-BE49-F238E27FC236}">
                <a16:creationId xmlns:a16="http://schemas.microsoft.com/office/drawing/2014/main" id="{B1B33DB1-E5F1-47A8-915C-EEAECFFDA8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4D9822-EC4E-4B2D-86D2-EE0E0CB4CB53}"/>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1539783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7D597-3D31-4EA1-A5D2-0654F08817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EA158A-CF75-4697-95EC-110CB3073C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F48632-67BA-48EE-B84B-6F317A5BA7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D60A428-379F-4225-804E-D07EDB8B7AC5}"/>
              </a:ext>
            </a:extLst>
          </p:cNvPr>
          <p:cNvSpPr>
            <a:spLocks noGrp="1"/>
          </p:cNvSpPr>
          <p:nvPr>
            <p:ph type="dt" sz="half" idx="10"/>
          </p:nvPr>
        </p:nvSpPr>
        <p:spPr/>
        <p:txBody>
          <a:bodyPr/>
          <a:lstStyle/>
          <a:p>
            <a:fld id="{E2FC9351-6833-4ACA-9B0E-1AFDFBD3FC6C}" type="datetimeFigureOut">
              <a:rPr lang="en-US" smtClean="0"/>
              <a:t>12/13/2025</a:t>
            </a:fld>
            <a:endParaRPr lang="en-US"/>
          </a:p>
        </p:txBody>
      </p:sp>
      <p:sp>
        <p:nvSpPr>
          <p:cNvPr id="6" name="Footer Placeholder 5">
            <a:extLst>
              <a:ext uri="{FF2B5EF4-FFF2-40B4-BE49-F238E27FC236}">
                <a16:creationId xmlns:a16="http://schemas.microsoft.com/office/drawing/2014/main" id="{02521B47-7941-4B51-B542-ECBCC5C7D2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37CB2D-D204-4E1F-B6F0-9295C516008F}"/>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417303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52A10-3B8F-4AA9-9D5D-11C506B924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430A39-2B5B-47AD-87E5-C0C7C9EFCBD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64F1BD-A74F-44F4-B942-BE30F3837DAD}"/>
              </a:ext>
            </a:extLst>
          </p:cNvPr>
          <p:cNvSpPr>
            <a:spLocks noGrp="1"/>
          </p:cNvSpPr>
          <p:nvPr>
            <p:ph type="dt" sz="half" idx="10"/>
          </p:nvPr>
        </p:nvSpPr>
        <p:spPr/>
        <p:txBody>
          <a:bodyPr/>
          <a:lstStyle/>
          <a:p>
            <a:fld id="{E2FC9351-6833-4ACA-9B0E-1AFDFBD3FC6C}" type="datetimeFigureOut">
              <a:rPr lang="en-US" smtClean="0"/>
              <a:t>12/13/2025</a:t>
            </a:fld>
            <a:endParaRPr lang="en-US"/>
          </a:p>
        </p:txBody>
      </p:sp>
      <p:sp>
        <p:nvSpPr>
          <p:cNvPr id="5" name="Footer Placeholder 4">
            <a:extLst>
              <a:ext uri="{FF2B5EF4-FFF2-40B4-BE49-F238E27FC236}">
                <a16:creationId xmlns:a16="http://schemas.microsoft.com/office/drawing/2014/main" id="{BF3EA2F6-71D2-4FEC-ADE3-93D42200D4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F70B45-3CDB-4396-AAF4-2FE6689F7CC7}"/>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832904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178C8C-D822-4E6B-9851-8E000AEA63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1662D7-FFFE-4897-9858-9327490273F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38E980-2575-4FBD-8AF6-E6B57EB4EF08}"/>
              </a:ext>
            </a:extLst>
          </p:cNvPr>
          <p:cNvSpPr>
            <a:spLocks noGrp="1"/>
          </p:cNvSpPr>
          <p:nvPr>
            <p:ph type="dt" sz="half" idx="10"/>
          </p:nvPr>
        </p:nvSpPr>
        <p:spPr/>
        <p:txBody>
          <a:bodyPr/>
          <a:lstStyle/>
          <a:p>
            <a:fld id="{E2FC9351-6833-4ACA-9B0E-1AFDFBD3FC6C}" type="datetimeFigureOut">
              <a:rPr lang="en-US" smtClean="0"/>
              <a:t>12/13/2025</a:t>
            </a:fld>
            <a:endParaRPr lang="en-US"/>
          </a:p>
        </p:txBody>
      </p:sp>
      <p:sp>
        <p:nvSpPr>
          <p:cNvPr id="5" name="Footer Placeholder 4">
            <a:extLst>
              <a:ext uri="{FF2B5EF4-FFF2-40B4-BE49-F238E27FC236}">
                <a16:creationId xmlns:a16="http://schemas.microsoft.com/office/drawing/2014/main" id="{AD5B676E-8A89-4B9E-B5DB-01E32E914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2FB0B8-D8F9-49E3-AC1D-CFEF75612DE8}"/>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2168034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B44026-7673-4B7F-8BC0-D0D08F91B589}"/>
              </a:ext>
            </a:extLst>
          </p:cNvPr>
          <p:cNvSpPr>
            <a:spLocks noGrp="1"/>
          </p:cNvSpPr>
          <p:nvPr>
            <p:ph type="title"/>
          </p:nvPr>
        </p:nvSpPr>
        <p:spPr>
          <a:xfrm>
            <a:off x="496389" y="330492"/>
            <a:ext cx="11207931" cy="807349"/>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A82C02EA-9F6D-4206-93EE-F04A4B62237C}"/>
              </a:ext>
            </a:extLst>
          </p:cNvPr>
          <p:cNvSpPr>
            <a:spLocks noGrp="1"/>
          </p:cNvSpPr>
          <p:nvPr>
            <p:ph type="body" idx="1"/>
          </p:nvPr>
        </p:nvSpPr>
        <p:spPr>
          <a:xfrm>
            <a:off x="496389" y="1371600"/>
            <a:ext cx="11207931" cy="480536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B55066C-43E4-4C74-B40F-DD09D1BD06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FC9351-6833-4ACA-9B0E-1AFDFBD3FC6C}" type="datetimeFigureOut">
              <a:rPr lang="en-US" smtClean="0"/>
              <a:t>12/13/2025</a:t>
            </a:fld>
            <a:endParaRPr lang="en-US"/>
          </a:p>
        </p:txBody>
      </p:sp>
      <p:sp>
        <p:nvSpPr>
          <p:cNvPr id="5" name="Footer Placeholder 4">
            <a:extLst>
              <a:ext uri="{FF2B5EF4-FFF2-40B4-BE49-F238E27FC236}">
                <a16:creationId xmlns:a16="http://schemas.microsoft.com/office/drawing/2014/main" id="{7AB9B6A3-5D26-4A6A-9620-F31FFC177D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00F7B8-8334-4786-8DA1-DDA771B74B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9D6553-B421-4DB6-AAE8-4917336B08FE}" type="slidenum">
              <a:rPr lang="en-US" smtClean="0"/>
              <a:t>‹#›</a:t>
            </a:fld>
            <a:endParaRPr lang="en-US"/>
          </a:p>
        </p:txBody>
      </p:sp>
    </p:spTree>
    <p:extLst>
      <p:ext uri="{BB962C8B-B14F-4D97-AF65-F5344CB8AC3E}">
        <p14:creationId xmlns:p14="http://schemas.microsoft.com/office/powerpoint/2010/main" val="1854387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600" kern="1200">
          <a:solidFill>
            <a:schemeClr val="tx1"/>
          </a:solidFill>
          <a:latin typeface="Segoe UI Light" panose="020B0502040204020203" pitchFamily="34" charset="0"/>
          <a:ea typeface="+mj-ea"/>
          <a:cs typeface="Segoe UI Light" panose="020B0502040204020203" pitchFamily="34" charset="0"/>
        </a:defRPr>
      </a:lvl1pPr>
    </p:titleStyle>
    <p:bodyStyle>
      <a:lvl1pPr marL="228600" indent="-228600" algn="l" defTabSz="914400" rtl="0" eaLnBrk="1" latinLnBrk="0" hangingPunct="1">
        <a:lnSpc>
          <a:spcPct val="120000"/>
        </a:lnSpc>
        <a:spcBef>
          <a:spcPts val="0"/>
        </a:spcBef>
        <a:spcAft>
          <a:spcPts val="600"/>
        </a:spcAft>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120000"/>
        </a:lnSpc>
        <a:spcBef>
          <a:spcPts val="0"/>
        </a:spcBef>
        <a:spcAft>
          <a:spcPts val="600"/>
        </a:spcAft>
        <a:buSzPct val="90000"/>
        <a:buFont typeface="Wingdings" panose="05000000000000000000" pitchFamily="2" charset="2"/>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120000"/>
        </a:lnSpc>
        <a:spcBef>
          <a:spcPts val="0"/>
        </a:spcBef>
        <a:spcAft>
          <a:spcPts val="600"/>
        </a:spcAft>
        <a:buFont typeface="Courier New" panose="02070309020205020404" pitchFamily="49" charset="0"/>
        <a:buChar char="o"/>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120000"/>
        </a:lnSpc>
        <a:spcBef>
          <a:spcPts val="0"/>
        </a:spcBef>
        <a:spcAft>
          <a:spcPts val="600"/>
        </a:spcAft>
        <a:buFont typeface="Calibri" panose="020F050202020403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120000"/>
        </a:lnSpc>
        <a:spcBef>
          <a:spcPts val="0"/>
        </a:spcBef>
        <a:spcAft>
          <a:spcPts val="600"/>
        </a:spcAft>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id-preview--277c0392-61d1-4d13-81b0-1ce30430d0a3.lovable.app/admin/dashboard"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github.com/Daniyal-Wajid/HawkEye-Part-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C9822-BBDD-4E8C-817E-2A816979CB65}"/>
              </a:ext>
            </a:extLst>
          </p:cNvPr>
          <p:cNvSpPr>
            <a:spLocks noGrp="1"/>
          </p:cNvSpPr>
          <p:nvPr>
            <p:ph type="ctrTitle"/>
          </p:nvPr>
        </p:nvSpPr>
        <p:spPr/>
        <p:txBody>
          <a:bodyPr/>
          <a:lstStyle/>
          <a:p>
            <a:r>
              <a:rPr lang="en-US" dirty="0"/>
              <a:t>Final Year Project: </a:t>
            </a:r>
            <a:br>
              <a:rPr lang="en-US" dirty="0"/>
            </a:br>
            <a:r>
              <a:rPr lang="en-US" dirty="0" err="1"/>
              <a:t>HawkEye</a:t>
            </a:r>
            <a:endParaRPr lang="en-US" dirty="0"/>
          </a:p>
        </p:txBody>
      </p:sp>
    </p:spTree>
    <p:extLst>
      <p:ext uri="{BB962C8B-B14F-4D97-AF65-F5344CB8AC3E}">
        <p14:creationId xmlns:p14="http://schemas.microsoft.com/office/powerpoint/2010/main" val="782671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a:t>Project Team</a:t>
            </a:r>
          </a:p>
        </p:txBody>
      </p:sp>
      <p:sp>
        <p:nvSpPr>
          <p:cNvPr id="3075" name="Content Placeholder 2"/>
          <p:cNvSpPr>
            <a:spLocks noGrp="1"/>
          </p:cNvSpPr>
          <p:nvPr>
            <p:ph idx="1"/>
          </p:nvPr>
        </p:nvSpPr>
        <p:spPr/>
        <p:txBody>
          <a:bodyPr/>
          <a:lstStyle/>
          <a:p>
            <a:pPr eaLnBrk="1" hangingPunct="1"/>
            <a:r>
              <a:rPr lang="en-US" dirty="0"/>
              <a:t>Daniyal Wajid (48528)</a:t>
            </a:r>
          </a:p>
          <a:p>
            <a:r>
              <a:rPr lang="en-US" dirty="0" err="1"/>
              <a:t>Uzair</a:t>
            </a:r>
            <a:r>
              <a:rPr lang="en-US" dirty="0"/>
              <a:t> Hassan (48525)</a:t>
            </a:r>
          </a:p>
          <a:p>
            <a:pPr eaLnBrk="1" hangingPunct="1"/>
            <a:endParaRPr lang="en-US" dirty="0"/>
          </a:p>
          <a:p>
            <a:pPr eaLnBrk="1" hangingPunct="1"/>
            <a:r>
              <a:rPr lang="en-US" dirty="0"/>
              <a:t>Supervisor: Ma’am Uzma Kiran (Senior Lecturer)</a:t>
            </a:r>
          </a:p>
          <a:p>
            <a:pPr eaLnBrk="1" hangingPunct="1"/>
            <a:endParaRPr lang="en-US" dirty="0"/>
          </a:p>
          <a:p>
            <a:pPr eaLnBrk="1" hangingPunct="1"/>
            <a:endParaRPr lang="en-US" dirty="0"/>
          </a:p>
        </p:txBody>
      </p:sp>
    </p:spTree>
    <p:extLst>
      <p:ext uri="{BB962C8B-B14F-4D97-AF65-F5344CB8AC3E}">
        <p14:creationId xmlns:p14="http://schemas.microsoft.com/office/powerpoint/2010/main" val="1146731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a:t>Table of Content</a:t>
            </a:r>
          </a:p>
        </p:txBody>
      </p:sp>
      <p:sp>
        <p:nvSpPr>
          <p:cNvPr id="4099" name="Content Placeholder 2"/>
          <p:cNvSpPr>
            <a:spLocks noGrp="1"/>
          </p:cNvSpPr>
          <p:nvPr>
            <p:ph idx="1"/>
          </p:nvPr>
        </p:nvSpPr>
        <p:spPr/>
        <p:txBody>
          <a:bodyPr/>
          <a:lstStyle/>
          <a:p>
            <a:pPr eaLnBrk="1" hangingPunct="1"/>
            <a:r>
              <a:rPr lang="en-US" dirty="0"/>
              <a:t>Problem </a:t>
            </a:r>
          </a:p>
          <a:p>
            <a:pPr eaLnBrk="1" hangingPunct="1"/>
            <a:r>
              <a:rPr lang="en-US" dirty="0"/>
              <a:t>Solution</a:t>
            </a:r>
          </a:p>
          <a:p>
            <a:pPr eaLnBrk="1" hangingPunct="1"/>
            <a:r>
              <a:rPr lang="en-US" dirty="0"/>
              <a:t>Progress Report Summary</a:t>
            </a:r>
          </a:p>
          <a:p>
            <a:pPr lvl="1" eaLnBrk="1" hangingPunct="1"/>
            <a:r>
              <a:rPr lang="en-US" dirty="0"/>
              <a:t>Requirements</a:t>
            </a:r>
          </a:p>
          <a:p>
            <a:pPr lvl="1" eaLnBrk="1" hangingPunct="1"/>
            <a:r>
              <a:rPr lang="en-US" dirty="0"/>
              <a:t>Design</a:t>
            </a:r>
          </a:p>
          <a:p>
            <a:pPr lvl="1" eaLnBrk="1" hangingPunct="1"/>
            <a:r>
              <a:rPr lang="en-US" dirty="0"/>
              <a:t>Implementation</a:t>
            </a:r>
          </a:p>
          <a:p>
            <a:pPr eaLnBrk="1" hangingPunct="1"/>
            <a:r>
              <a:rPr lang="en-US" dirty="0"/>
              <a:t>Next Steps</a:t>
            </a:r>
          </a:p>
          <a:p>
            <a:pPr eaLnBrk="1" hangingPunct="1"/>
            <a:r>
              <a:rPr lang="en-US" dirty="0"/>
              <a:t>Prototype / Report</a:t>
            </a:r>
          </a:p>
        </p:txBody>
      </p:sp>
    </p:spTree>
    <p:extLst>
      <p:ext uri="{BB962C8B-B14F-4D97-AF65-F5344CB8AC3E}">
        <p14:creationId xmlns:p14="http://schemas.microsoft.com/office/powerpoint/2010/main" val="2193086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32828-2378-410A-8302-2CFE7F8E36EE}"/>
              </a:ext>
            </a:extLst>
          </p:cNvPr>
          <p:cNvSpPr>
            <a:spLocks noGrp="1"/>
          </p:cNvSpPr>
          <p:nvPr>
            <p:ph type="title"/>
          </p:nvPr>
        </p:nvSpPr>
        <p:spPr/>
        <p:txBody>
          <a:bodyPr/>
          <a:lstStyle/>
          <a:p>
            <a:r>
              <a:rPr lang="en-US" dirty="0"/>
              <a:t>Introduction &amp; Background</a:t>
            </a:r>
          </a:p>
        </p:txBody>
      </p:sp>
      <p:sp>
        <p:nvSpPr>
          <p:cNvPr id="3" name="Content Placeholder 2">
            <a:extLst>
              <a:ext uri="{FF2B5EF4-FFF2-40B4-BE49-F238E27FC236}">
                <a16:creationId xmlns:a16="http://schemas.microsoft.com/office/drawing/2014/main" id="{C0978744-C176-4F6B-B20F-A9FB0996D576}"/>
              </a:ext>
            </a:extLst>
          </p:cNvPr>
          <p:cNvSpPr>
            <a:spLocks noGrp="1"/>
          </p:cNvSpPr>
          <p:nvPr>
            <p:ph idx="1"/>
          </p:nvPr>
        </p:nvSpPr>
        <p:spPr/>
        <p:txBody>
          <a:bodyPr>
            <a:normAutofit fontScale="92500"/>
          </a:bodyPr>
          <a:lstStyle/>
          <a:p>
            <a:r>
              <a:rPr lang="en-US" dirty="0" err="1"/>
              <a:t>HawkEye</a:t>
            </a:r>
            <a:r>
              <a:rPr lang="en-US" dirty="0"/>
              <a:t> is an AI-powered campus discipline monitoring system designed to detect violations such as dress code issues, weapons, and fights while identifying involved students through facial recognition. </a:t>
            </a:r>
          </a:p>
          <a:p>
            <a:r>
              <a:rPr lang="en-US" dirty="0"/>
              <a:t>Traditional manual monitoring is slow, inconsistent, and unable to cover large campus areas effectively. </a:t>
            </a:r>
          </a:p>
          <a:p>
            <a:r>
              <a:rPr lang="en-US" dirty="0"/>
              <a:t>With advancements in AI and Computer Vision, real-time automated surveillance has become possible. </a:t>
            </a:r>
          </a:p>
          <a:p>
            <a:r>
              <a:rPr lang="en-US" dirty="0" err="1"/>
              <a:t>HawkEye</a:t>
            </a:r>
            <a:r>
              <a:rPr lang="en-US" dirty="0"/>
              <a:t> leverages these capabilities to provide a smarter, faster, and more reliable solution for maintaining campus safety and discipline.</a:t>
            </a:r>
          </a:p>
        </p:txBody>
      </p:sp>
    </p:spTree>
    <p:extLst>
      <p:ext uri="{BB962C8B-B14F-4D97-AF65-F5344CB8AC3E}">
        <p14:creationId xmlns:p14="http://schemas.microsoft.com/office/powerpoint/2010/main" val="2169085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dirty="0"/>
              <a:t>Problem Statement</a:t>
            </a:r>
          </a:p>
        </p:txBody>
      </p:sp>
      <p:sp>
        <p:nvSpPr>
          <p:cNvPr id="6147" name="Content Placeholder 2"/>
          <p:cNvSpPr>
            <a:spLocks noGrp="1"/>
          </p:cNvSpPr>
          <p:nvPr>
            <p:ph idx="1"/>
          </p:nvPr>
        </p:nvSpPr>
        <p:spPr/>
        <p:txBody>
          <a:bodyPr>
            <a:normAutofit lnSpcReduction="10000"/>
          </a:bodyPr>
          <a:lstStyle/>
          <a:p>
            <a:r>
              <a:rPr lang="en-US" dirty="0"/>
              <a:t>Maintaining discipline across large campuses is challenging due to limited staff, inconsistent manual monitoring, and delayed reporting of incidents. </a:t>
            </a:r>
          </a:p>
          <a:p>
            <a:r>
              <a:rPr lang="en-US" dirty="0"/>
              <a:t>Critical violations such as dress code breaches, fights, and potential weapon threats, often go unnoticed or are addressed too late. </a:t>
            </a:r>
          </a:p>
          <a:p>
            <a:r>
              <a:rPr lang="en-US" dirty="0"/>
              <a:t>There is no automated system to reliably identify students involved or to provide real-time evidence for quick decision-making. </a:t>
            </a:r>
          </a:p>
          <a:p>
            <a:r>
              <a:rPr lang="en-US" dirty="0"/>
              <a:t>This results in safety risks, inefficient enforcement, and lack of transparency in the discipline process.</a:t>
            </a:r>
          </a:p>
        </p:txBody>
      </p:sp>
    </p:spTree>
    <p:extLst>
      <p:ext uri="{BB962C8B-B14F-4D97-AF65-F5344CB8AC3E}">
        <p14:creationId xmlns:p14="http://schemas.microsoft.com/office/powerpoint/2010/main" val="3570031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p:sp>
        <p:nvSpPr>
          <p:cNvPr id="3" name="Content Placeholder 2"/>
          <p:cNvSpPr>
            <a:spLocks noGrp="1"/>
          </p:cNvSpPr>
          <p:nvPr>
            <p:ph idx="1"/>
          </p:nvPr>
        </p:nvSpPr>
        <p:spPr/>
        <p:txBody>
          <a:bodyPr>
            <a:normAutofit fontScale="92500" lnSpcReduction="10000"/>
          </a:bodyPr>
          <a:lstStyle/>
          <a:p>
            <a:r>
              <a:rPr lang="en-US" dirty="0" err="1"/>
              <a:t>HawkEye</a:t>
            </a:r>
            <a:r>
              <a:rPr lang="en-US" dirty="0"/>
              <a:t> provides an AI-driven automated monitoring system that detects discipline violations in real time using facial recognition and behavior analysis. </a:t>
            </a:r>
          </a:p>
          <a:p>
            <a:r>
              <a:rPr lang="en-US" dirty="0"/>
              <a:t>It identifies students involved, captures evidence, and instantly notifies relevant authorities for quick action. </a:t>
            </a:r>
          </a:p>
          <a:p>
            <a:r>
              <a:rPr lang="en-US" dirty="0"/>
              <a:t>The system maintains a complete record of violations, automates fine generation, and allows students to report incidents through a secure mobile application. By replacing manual supervision with intelligent automation, </a:t>
            </a:r>
            <a:r>
              <a:rPr lang="en-US" dirty="0" err="1"/>
              <a:t>HawkEye</a:t>
            </a:r>
            <a:r>
              <a:rPr lang="en-US" dirty="0"/>
              <a:t> ensures faster response, improved safety, and transparent discipline management across the campus.</a:t>
            </a:r>
          </a:p>
        </p:txBody>
      </p:sp>
    </p:spTree>
    <p:extLst>
      <p:ext uri="{BB962C8B-B14F-4D97-AF65-F5344CB8AC3E}">
        <p14:creationId xmlns:p14="http://schemas.microsoft.com/office/powerpoint/2010/main" val="2962273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3BF5B-1469-4BE1-B878-2BAA1A815EFE}"/>
              </a:ext>
            </a:extLst>
          </p:cNvPr>
          <p:cNvSpPr>
            <a:spLocks noGrp="1"/>
          </p:cNvSpPr>
          <p:nvPr>
            <p:ph type="title"/>
          </p:nvPr>
        </p:nvSpPr>
        <p:spPr/>
        <p:txBody>
          <a:bodyPr/>
          <a:lstStyle/>
          <a:p>
            <a:r>
              <a:rPr lang="en-US" dirty="0"/>
              <a:t>Features and Scope</a:t>
            </a:r>
          </a:p>
        </p:txBody>
      </p:sp>
      <p:sp>
        <p:nvSpPr>
          <p:cNvPr id="3" name="Content Placeholder 2">
            <a:extLst>
              <a:ext uri="{FF2B5EF4-FFF2-40B4-BE49-F238E27FC236}">
                <a16:creationId xmlns:a16="http://schemas.microsoft.com/office/drawing/2014/main" id="{C1C85594-604F-4E9B-A695-37005054F62D}"/>
              </a:ext>
            </a:extLst>
          </p:cNvPr>
          <p:cNvSpPr>
            <a:spLocks noGrp="1"/>
          </p:cNvSpPr>
          <p:nvPr>
            <p:ph idx="1"/>
          </p:nvPr>
        </p:nvSpPr>
        <p:spPr/>
        <p:txBody>
          <a:bodyPr>
            <a:normAutofit fontScale="92500" lnSpcReduction="20000"/>
          </a:bodyPr>
          <a:lstStyle/>
          <a:p>
            <a:r>
              <a:rPr lang="en-US" dirty="0" err="1"/>
              <a:t>HawkEye</a:t>
            </a:r>
            <a:r>
              <a:rPr lang="en-US" dirty="0"/>
              <a:t> provides AI-powered detection of dress code violations, weapons, fights, and student identification through facial recognition. </a:t>
            </a:r>
          </a:p>
          <a:p>
            <a:r>
              <a:rPr lang="en-US" dirty="0"/>
              <a:t>It automatically logs incidents with evidence, generates fines, and sends real-time alerts to relevant authorities. </a:t>
            </a:r>
          </a:p>
          <a:p>
            <a:r>
              <a:rPr lang="en-US" dirty="0"/>
              <a:t>Students can report violations with a </a:t>
            </a:r>
            <a:r>
              <a:rPr lang="en-US" dirty="0" err="1"/>
              <a:t>cooldown</a:t>
            </a:r>
            <a:r>
              <a:rPr lang="en-US" dirty="0"/>
              <a:t> system and earn rewards for valid submissions. </a:t>
            </a:r>
          </a:p>
          <a:p>
            <a:r>
              <a:rPr lang="en-US" dirty="0"/>
              <a:t>The system includes dedicated dashboards for admins, discipline </a:t>
            </a:r>
            <a:r>
              <a:rPr lang="en-US" dirty="0" err="1"/>
              <a:t>incharge</a:t>
            </a:r>
            <a:r>
              <a:rPr lang="en-US" dirty="0"/>
              <a:t>, and students, offering complete visibility of violations, fines, and reports.</a:t>
            </a:r>
          </a:p>
          <a:p>
            <a:r>
              <a:rPr lang="en-US" dirty="0" err="1"/>
              <a:t>HawkEye</a:t>
            </a:r>
            <a:r>
              <a:rPr lang="en-US" dirty="0"/>
              <a:t> aims to enhance campus safety, reduce manual monitoring, ensure transparent discipline management, and support future scalability with advanced analytics and predictive features.</a:t>
            </a:r>
          </a:p>
        </p:txBody>
      </p:sp>
    </p:spTree>
    <p:extLst>
      <p:ext uri="{BB962C8B-B14F-4D97-AF65-F5344CB8AC3E}">
        <p14:creationId xmlns:p14="http://schemas.microsoft.com/office/powerpoint/2010/main" val="1712021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a:t>
            </a:r>
          </a:p>
        </p:txBody>
      </p:sp>
      <p:sp>
        <p:nvSpPr>
          <p:cNvPr id="3" name="Content Placeholder 2"/>
          <p:cNvSpPr>
            <a:spLocks noGrp="1"/>
          </p:cNvSpPr>
          <p:nvPr>
            <p:ph idx="1"/>
          </p:nvPr>
        </p:nvSpPr>
        <p:spPr/>
        <p:txBody>
          <a:bodyPr>
            <a:normAutofit fontScale="92500" lnSpcReduction="10000"/>
          </a:bodyPr>
          <a:lstStyle/>
          <a:p>
            <a:r>
              <a:rPr lang="en-US" dirty="0"/>
              <a:t>Elicitation Techniques / Tools</a:t>
            </a:r>
          </a:p>
          <a:p>
            <a:pPr lvl="1"/>
            <a:r>
              <a:rPr lang="en-US" dirty="0"/>
              <a:t>Interviews </a:t>
            </a:r>
          </a:p>
          <a:p>
            <a:pPr lvl="1"/>
            <a:r>
              <a:rPr lang="en-US" dirty="0"/>
              <a:t>Market / Literature Survey </a:t>
            </a:r>
          </a:p>
          <a:p>
            <a:pPr lvl="1"/>
            <a:r>
              <a:rPr lang="en-US" dirty="0"/>
              <a:t>Prototyping </a:t>
            </a:r>
          </a:p>
          <a:p>
            <a:pPr lvl="1"/>
            <a:r>
              <a:rPr lang="en-US" dirty="0"/>
              <a:t>Observation &amp; Feedback Sessions </a:t>
            </a:r>
          </a:p>
          <a:p>
            <a:r>
              <a:rPr lang="en-US" dirty="0"/>
              <a:t>Specification / Documentation</a:t>
            </a:r>
          </a:p>
          <a:p>
            <a:pPr lvl="1"/>
            <a:r>
              <a:rPr lang="en-US" dirty="0"/>
              <a:t>Software Requirements Specification (SRS) </a:t>
            </a:r>
          </a:p>
          <a:p>
            <a:pPr lvl="1"/>
            <a:r>
              <a:rPr lang="en-US" dirty="0"/>
              <a:t>Project Scope Document </a:t>
            </a:r>
          </a:p>
          <a:p>
            <a:pPr lvl="1"/>
            <a:r>
              <a:rPr lang="en-US" dirty="0"/>
              <a:t>Feature List &amp; Use Cases </a:t>
            </a:r>
          </a:p>
          <a:p>
            <a:pPr lvl="1"/>
            <a:r>
              <a:rPr lang="en-US" dirty="0"/>
              <a:t>Process Flows &amp; Diagrams</a:t>
            </a:r>
          </a:p>
        </p:txBody>
      </p:sp>
    </p:spTree>
    <p:extLst>
      <p:ext uri="{BB962C8B-B14F-4D97-AF65-F5344CB8AC3E}">
        <p14:creationId xmlns:p14="http://schemas.microsoft.com/office/powerpoint/2010/main" val="1744384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a:t>
            </a:r>
          </a:p>
        </p:txBody>
      </p:sp>
      <p:sp>
        <p:nvSpPr>
          <p:cNvPr id="3" name="Content Placeholder 2"/>
          <p:cNvSpPr>
            <a:spLocks noGrp="1"/>
          </p:cNvSpPr>
          <p:nvPr>
            <p:ph idx="1"/>
          </p:nvPr>
        </p:nvSpPr>
        <p:spPr/>
        <p:txBody>
          <a:bodyPr>
            <a:normAutofit fontScale="92500" lnSpcReduction="20000"/>
          </a:bodyPr>
          <a:lstStyle/>
          <a:p>
            <a:r>
              <a:rPr lang="en-US" dirty="0"/>
              <a:t>List of Different Users</a:t>
            </a:r>
          </a:p>
          <a:p>
            <a:pPr lvl="1"/>
            <a:r>
              <a:rPr lang="en-US" dirty="0"/>
              <a:t>Admin </a:t>
            </a:r>
          </a:p>
          <a:p>
            <a:pPr lvl="1"/>
            <a:r>
              <a:rPr lang="en-US" dirty="0"/>
              <a:t>Discipline Incharge / Teacher </a:t>
            </a:r>
          </a:p>
          <a:p>
            <a:pPr lvl="1"/>
            <a:r>
              <a:rPr lang="en-US" dirty="0"/>
              <a:t>Student</a:t>
            </a:r>
          </a:p>
          <a:p>
            <a:r>
              <a:rPr lang="en-US" dirty="0"/>
              <a:t>Use Cases</a:t>
            </a:r>
          </a:p>
          <a:p>
            <a:pPr lvl="1"/>
            <a:r>
              <a:rPr lang="en-US" dirty="0"/>
              <a:t>Manage students and violations </a:t>
            </a:r>
          </a:p>
          <a:p>
            <a:pPr lvl="1"/>
            <a:r>
              <a:rPr lang="en-US" dirty="0"/>
              <a:t>Detect violations automatically </a:t>
            </a:r>
          </a:p>
          <a:p>
            <a:pPr lvl="1"/>
            <a:r>
              <a:rPr lang="en-US" dirty="0"/>
              <a:t>Report violations manually </a:t>
            </a:r>
          </a:p>
          <a:p>
            <a:pPr lvl="1"/>
            <a:r>
              <a:rPr lang="en-US" dirty="0"/>
              <a:t>Review, approve, or reject incidents </a:t>
            </a:r>
          </a:p>
          <a:p>
            <a:pPr lvl="1"/>
            <a:r>
              <a:rPr lang="en-US" dirty="0"/>
              <a:t>Generate fines and rewards </a:t>
            </a:r>
          </a:p>
          <a:p>
            <a:pPr lvl="1"/>
            <a:r>
              <a:rPr lang="en-US" dirty="0"/>
              <a:t>View dashboards, alerts, and analytics</a:t>
            </a:r>
          </a:p>
        </p:txBody>
      </p:sp>
    </p:spTree>
    <p:extLst>
      <p:ext uri="{BB962C8B-B14F-4D97-AF65-F5344CB8AC3E}">
        <p14:creationId xmlns:p14="http://schemas.microsoft.com/office/powerpoint/2010/main" val="2569178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35567-D39E-4496-A338-2740E070534E}"/>
              </a:ext>
            </a:extLst>
          </p:cNvPr>
          <p:cNvSpPr>
            <a:spLocks noGrp="1"/>
          </p:cNvSpPr>
          <p:nvPr>
            <p:ph type="title"/>
          </p:nvPr>
        </p:nvSpPr>
        <p:spPr/>
        <p:txBody>
          <a:bodyPr/>
          <a:lstStyle/>
          <a:p>
            <a:r>
              <a:rPr lang="en-US" dirty="0"/>
              <a:t>Use Case </a:t>
            </a:r>
            <a:r>
              <a:rPr lang="en-US" dirty="0" smtClean="0"/>
              <a:t>Diagram: System</a:t>
            </a:r>
            <a:endParaRPr lang="en-US" dirty="0"/>
          </a:p>
        </p:txBody>
      </p:sp>
      <p:pic>
        <p:nvPicPr>
          <p:cNvPr id="3076" name="Picture 4" descr="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8341" y="1137841"/>
            <a:ext cx="6804025" cy="5705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485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35567-D39E-4496-A338-2740E070534E}"/>
              </a:ext>
            </a:extLst>
          </p:cNvPr>
          <p:cNvSpPr>
            <a:spLocks noGrp="1"/>
          </p:cNvSpPr>
          <p:nvPr>
            <p:ph type="title"/>
          </p:nvPr>
        </p:nvSpPr>
        <p:spPr/>
        <p:txBody>
          <a:bodyPr/>
          <a:lstStyle/>
          <a:p>
            <a:r>
              <a:rPr lang="en-US" dirty="0"/>
              <a:t>Use Case </a:t>
            </a:r>
            <a:r>
              <a:rPr lang="en-US" dirty="0" smtClean="0"/>
              <a:t>Diagram: Student</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4112" y="1137841"/>
            <a:ext cx="9496425" cy="5476875"/>
          </a:xfrm>
          <a:prstGeom prst="rect">
            <a:avLst/>
          </a:prstGeom>
        </p:spPr>
      </p:pic>
    </p:spTree>
    <p:extLst>
      <p:ext uri="{BB962C8B-B14F-4D97-AF65-F5344CB8AC3E}">
        <p14:creationId xmlns:p14="http://schemas.microsoft.com/office/powerpoint/2010/main" val="2175764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35567-D39E-4496-A338-2740E070534E}"/>
              </a:ext>
            </a:extLst>
          </p:cNvPr>
          <p:cNvSpPr>
            <a:spLocks noGrp="1"/>
          </p:cNvSpPr>
          <p:nvPr>
            <p:ph type="title"/>
          </p:nvPr>
        </p:nvSpPr>
        <p:spPr/>
        <p:txBody>
          <a:bodyPr/>
          <a:lstStyle/>
          <a:p>
            <a:r>
              <a:rPr lang="en-US" dirty="0"/>
              <a:t>Use Case </a:t>
            </a:r>
            <a:r>
              <a:rPr lang="en-US" dirty="0" smtClean="0"/>
              <a:t>Diagram: Admin</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9660" y="1137841"/>
            <a:ext cx="7821388" cy="5613672"/>
          </a:xfrm>
          <a:prstGeom prst="rect">
            <a:avLst/>
          </a:prstGeom>
        </p:spPr>
      </p:pic>
    </p:spTree>
    <p:extLst>
      <p:ext uri="{BB962C8B-B14F-4D97-AF65-F5344CB8AC3E}">
        <p14:creationId xmlns:p14="http://schemas.microsoft.com/office/powerpoint/2010/main" val="3372128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35567-D39E-4496-A338-2740E070534E}"/>
              </a:ext>
            </a:extLst>
          </p:cNvPr>
          <p:cNvSpPr>
            <a:spLocks noGrp="1"/>
          </p:cNvSpPr>
          <p:nvPr>
            <p:ph type="title"/>
          </p:nvPr>
        </p:nvSpPr>
        <p:spPr/>
        <p:txBody>
          <a:bodyPr/>
          <a:lstStyle/>
          <a:p>
            <a:r>
              <a:rPr lang="en-US" dirty="0"/>
              <a:t>Use Case </a:t>
            </a:r>
            <a:r>
              <a:rPr lang="en-US" dirty="0" smtClean="0"/>
              <a:t>Diagram: Discipline Incharge</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8893" y="1137841"/>
            <a:ext cx="9202922" cy="5493760"/>
          </a:xfrm>
          <a:prstGeom prst="rect">
            <a:avLst/>
          </a:prstGeom>
        </p:spPr>
      </p:pic>
    </p:spTree>
    <p:extLst>
      <p:ext uri="{BB962C8B-B14F-4D97-AF65-F5344CB8AC3E}">
        <p14:creationId xmlns:p14="http://schemas.microsoft.com/office/powerpoint/2010/main" val="3810343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35567-D39E-4496-A338-2740E070534E}"/>
              </a:ext>
            </a:extLst>
          </p:cNvPr>
          <p:cNvSpPr>
            <a:spLocks noGrp="1"/>
          </p:cNvSpPr>
          <p:nvPr>
            <p:ph type="title"/>
          </p:nvPr>
        </p:nvSpPr>
        <p:spPr/>
        <p:txBody>
          <a:bodyPr/>
          <a:lstStyle/>
          <a:p>
            <a:r>
              <a:rPr lang="en-US" dirty="0"/>
              <a:t>Use Case </a:t>
            </a:r>
            <a:r>
              <a:rPr lang="en-US" dirty="0" smtClean="0"/>
              <a:t>Diagram: AI System</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4313" y="1259427"/>
            <a:ext cx="7472082" cy="5598573"/>
          </a:xfrm>
          <a:prstGeom prst="rect">
            <a:avLst/>
          </a:prstGeom>
        </p:spPr>
      </p:pic>
    </p:spTree>
    <p:extLst>
      <p:ext uri="{BB962C8B-B14F-4D97-AF65-F5344CB8AC3E}">
        <p14:creationId xmlns:p14="http://schemas.microsoft.com/office/powerpoint/2010/main" val="298809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345E7-E3D3-487B-9CD0-49D409A0BD2E}"/>
              </a:ext>
            </a:extLst>
          </p:cNvPr>
          <p:cNvSpPr>
            <a:spLocks noGrp="1"/>
          </p:cNvSpPr>
          <p:nvPr>
            <p:ph type="title"/>
          </p:nvPr>
        </p:nvSpPr>
        <p:spPr/>
        <p:txBody>
          <a:bodyPr>
            <a:normAutofit/>
          </a:bodyPr>
          <a:lstStyle/>
          <a:p>
            <a:r>
              <a:rPr lang="en-US" dirty="0"/>
              <a:t>Functional &amp; Non Functional Requirements</a:t>
            </a:r>
          </a:p>
        </p:txBody>
      </p:sp>
      <p:sp>
        <p:nvSpPr>
          <p:cNvPr id="3" name="Content Placeholder 2">
            <a:extLst>
              <a:ext uri="{FF2B5EF4-FFF2-40B4-BE49-F238E27FC236}">
                <a16:creationId xmlns:a16="http://schemas.microsoft.com/office/drawing/2014/main" id="{9AA0275C-D8C4-477F-ABE3-EA9F84424B02}"/>
              </a:ext>
            </a:extLst>
          </p:cNvPr>
          <p:cNvSpPr>
            <a:spLocks noGrp="1"/>
          </p:cNvSpPr>
          <p:nvPr>
            <p:ph idx="1"/>
          </p:nvPr>
        </p:nvSpPr>
        <p:spPr/>
        <p:txBody>
          <a:bodyPr>
            <a:normAutofit fontScale="77500" lnSpcReduction="20000"/>
          </a:bodyPr>
          <a:lstStyle/>
          <a:p>
            <a:pPr marL="0" indent="0">
              <a:buNone/>
            </a:pPr>
            <a:r>
              <a:rPr lang="en-US" sz="3200" dirty="0"/>
              <a:t>Functional Requirements</a:t>
            </a:r>
          </a:p>
          <a:p>
            <a:r>
              <a:rPr lang="en-US" dirty="0"/>
              <a:t>User authentication and role-based access</a:t>
            </a:r>
          </a:p>
          <a:p>
            <a:r>
              <a:rPr lang="en-US" dirty="0"/>
              <a:t>Facial recognition and identity matching</a:t>
            </a:r>
          </a:p>
          <a:p>
            <a:r>
              <a:rPr lang="en-US" dirty="0"/>
              <a:t>Weapon, fight, and dress code detection</a:t>
            </a:r>
          </a:p>
          <a:p>
            <a:r>
              <a:rPr lang="en-US" dirty="0"/>
              <a:t>Fine and reward management</a:t>
            </a:r>
          </a:p>
          <a:p>
            <a:endParaRPr lang="en-US" sz="1800" dirty="0"/>
          </a:p>
          <a:p>
            <a:pPr marL="0" indent="0">
              <a:buNone/>
            </a:pPr>
            <a:r>
              <a:rPr lang="en-US" sz="3200" dirty="0"/>
              <a:t>Non-Functional Requirements</a:t>
            </a:r>
          </a:p>
          <a:p>
            <a:r>
              <a:rPr lang="en-US" dirty="0"/>
              <a:t>High system accuracy and performance</a:t>
            </a:r>
          </a:p>
          <a:p>
            <a:r>
              <a:rPr lang="en-US" dirty="0"/>
              <a:t>Data security and encryption</a:t>
            </a:r>
          </a:p>
          <a:p>
            <a:r>
              <a:rPr lang="en-US" dirty="0"/>
              <a:t>User-friendly interfaces</a:t>
            </a:r>
          </a:p>
          <a:p>
            <a:r>
              <a:rPr lang="en-US" dirty="0"/>
              <a:t>Maintainability and modular architecture</a:t>
            </a:r>
          </a:p>
        </p:txBody>
      </p:sp>
    </p:spTree>
    <p:extLst>
      <p:ext uri="{BB962C8B-B14F-4D97-AF65-F5344CB8AC3E}">
        <p14:creationId xmlns:p14="http://schemas.microsoft.com/office/powerpoint/2010/main" val="2141739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Design</a:t>
            </a:r>
          </a:p>
        </p:txBody>
      </p:sp>
      <p:sp>
        <p:nvSpPr>
          <p:cNvPr id="3" name="Content Placeholder 2"/>
          <p:cNvSpPr>
            <a:spLocks noGrp="1"/>
          </p:cNvSpPr>
          <p:nvPr>
            <p:ph idx="1"/>
          </p:nvPr>
        </p:nvSpPr>
        <p:spPr/>
        <p:txBody>
          <a:bodyPr>
            <a:normAutofit/>
          </a:bodyPr>
          <a:lstStyle/>
          <a:p>
            <a:r>
              <a:rPr lang="en-US" dirty="0"/>
              <a:t>Architecture Design</a:t>
            </a:r>
          </a:p>
          <a:p>
            <a:r>
              <a:rPr lang="en-US" dirty="0"/>
              <a:t>Entity Relationship Diagram</a:t>
            </a:r>
          </a:p>
          <a:p>
            <a:r>
              <a:rPr lang="en-US" dirty="0"/>
              <a:t>Class Diagram</a:t>
            </a:r>
          </a:p>
          <a:p>
            <a:r>
              <a:rPr lang="en-US" dirty="0"/>
              <a:t>Sequence / Collaboration Diagram</a:t>
            </a:r>
          </a:p>
          <a:p>
            <a:r>
              <a:rPr lang="en-US" dirty="0"/>
              <a:t>Activity Diagram</a:t>
            </a:r>
          </a:p>
          <a:p>
            <a:endParaRPr lang="en-US" dirty="0"/>
          </a:p>
        </p:txBody>
      </p:sp>
    </p:spTree>
    <p:extLst>
      <p:ext uri="{BB962C8B-B14F-4D97-AF65-F5344CB8AC3E}">
        <p14:creationId xmlns:p14="http://schemas.microsoft.com/office/powerpoint/2010/main" val="2923985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E7DA3-6EDD-489E-8538-415BA984418A}"/>
              </a:ext>
            </a:extLst>
          </p:cNvPr>
          <p:cNvSpPr>
            <a:spLocks noGrp="1"/>
          </p:cNvSpPr>
          <p:nvPr>
            <p:ph type="title"/>
          </p:nvPr>
        </p:nvSpPr>
        <p:spPr/>
        <p:txBody>
          <a:bodyPr>
            <a:normAutofit/>
          </a:bodyPr>
          <a:lstStyle/>
          <a:p>
            <a:r>
              <a:rPr lang="en-US" dirty="0"/>
              <a:t>Architecture Design</a:t>
            </a:r>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01952" y="1371600"/>
            <a:ext cx="6797622" cy="4805363"/>
          </a:xfrm>
          <a:prstGeom prst="rect">
            <a:avLst/>
          </a:prstGeom>
          <a:noFill/>
          <a:ln>
            <a:noFill/>
          </a:ln>
        </p:spPr>
      </p:pic>
    </p:spTree>
    <p:extLst>
      <p:ext uri="{BB962C8B-B14F-4D97-AF65-F5344CB8AC3E}">
        <p14:creationId xmlns:p14="http://schemas.microsoft.com/office/powerpoint/2010/main" val="964476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5681E-BC9E-4771-9AD9-886C04812DBB}"/>
              </a:ext>
            </a:extLst>
          </p:cNvPr>
          <p:cNvSpPr>
            <a:spLocks noGrp="1"/>
          </p:cNvSpPr>
          <p:nvPr>
            <p:ph type="title"/>
          </p:nvPr>
        </p:nvSpPr>
        <p:spPr/>
        <p:txBody>
          <a:bodyPr/>
          <a:lstStyle/>
          <a:p>
            <a:r>
              <a:rPr lang="en-US" dirty="0"/>
              <a:t>Entity Relationship Diagram</a:t>
            </a:r>
          </a:p>
        </p:txBody>
      </p:sp>
      <p:pic>
        <p:nvPicPr>
          <p:cNvPr id="4" name="Content Placeholder 3" descr="C:\Users\daniy\Desktop\Semester#7\FYP\Diagrams\Daniyal\New_Updated\ERD.drawio.png"/>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346534" y="1362364"/>
            <a:ext cx="5507639" cy="5343236"/>
          </a:xfrm>
          <a:prstGeom prst="rect">
            <a:avLst/>
          </a:prstGeom>
          <a:noFill/>
          <a:ln>
            <a:noFill/>
          </a:ln>
        </p:spPr>
      </p:pic>
    </p:spTree>
    <p:extLst>
      <p:ext uri="{BB962C8B-B14F-4D97-AF65-F5344CB8AC3E}">
        <p14:creationId xmlns:p14="http://schemas.microsoft.com/office/powerpoint/2010/main" val="8843786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51659-8479-4791-B021-F530DA25AB66}"/>
              </a:ext>
            </a:extLst>
          </p:cNvPr>
          <p:cNvSpPr>
            <a:spLocks noGrp="1"/>
          </p:cNvSpPr>
          <p:nvPr>
            <p:ph type="title"/>
          </p:nvPr>
        </p:nvSpPr>
        <p:spPr/>
        <p:txBody>
          <a:bodyPr>
            <a:normAutofit/>
          </a:bodyPr>
          <a:lstStyle/>
          <a:p>
            <a:r>
              <a:rPr lang="en-US" dirty="0"/>
              <a:t>Class Diagram</a:t>
            </a:r>
          </a:p>
        </p:txBody>
      </p:sp>
      <p:pic>
        <p:nvPicPr>
          <p:cNvPr id="4" name="Content Placeholder 3"/>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285182" y="1371600"/>
            <a:ext cx="5631162" cy="4805363"/>
          </a:xfrm>
          <a:prstGeom prst="rect">
            <a:avLst/>
          </a:prstGeom>
          <a:noFill/>
          <a:ln>
            <a:noFill/>
          </a:ln>
        </p:spPr>
      </p:pic>
    </p:spTree>
    <p:extLst>
      <p:ext uri="{BB962C8B-B14F-4D97-AF65-F5344CB8AC3E}">
        <p14:creationId xmlns:p14="http://schemas.microsoft.com/office/powerpoint/2010/main" val="1566908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2FDCE-058A-41BD-BBCF-11B1E60F55D0}"/>
              </a:ext>
            </a:extLst>
          </p:cNvPr>
          <p:cNvSpPr>
            <a:spLocks noGrp="1"/>
          </p:cNvSpPr>
          <p:nvPr>
            <p:ph type="title"/>
          </p:nvPr>
        </p:nvSpPr>
        <p:spPr/>
        <p:txBody>
          <a:bodyPr>
            <a:normAutofit/>
          </a:bodyPr>
          <a:lstStyle/>
          <a:p>
            <a:r>
              <a:rPr lang="en-US" dirty="0"/>
              <a:t>Sequence / Collaboration Diagram</a:t>
            </a:r>
          </a:p>
        </p:txBody>
      </p:sp>
      <p:pic>
        <p:nvPicPr>
          <p:cNvPr id="5" name="Content Placeholder 4"/>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382593" y="1334654"/>
            <a:ext cx="5435521" cy="5352472"/>
          </a:xfrm>
          <a:prstGeom prst="rect">
            <a:avLst/>
          </a:prstGeom>
          <a:noFill/>
          <a:ln>
            <a:noFill/>
          </a:ln>
        </p:spPr>
      </p:pic>
    </p:spTree>
    <p:extLst>
      <p:ext uri="{BB962C8B-B14F-4D97-AF65-F5344CB8AC3E}">
        <p14:creationId xmlns:p14="http://schemas.microsoft.com/office/powerpoint/2010/main" val="392671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2FDCE-058A-41BD-BBCF-11B1E60F55D0}"/>
              </a:ext>
            </a:extLst>
          </p:cNvPr>
          <p:cNvSpPr>
            <a:spLocks noGrp="1"/>
          </p:cNvSpPr>
          <p:nvPr>
            <p:ph type="title"/>
          </p:nvPr>
        </p:nvSpPr>
        <p:spPr/>
        <p:txBody>
          <a:bodyPr>
            <a:normAutofit/>
          </a:bodyPr>
          <a:lstStyle/>
          <a:p>
            <a:r>
              <a:rPr lang="en-US" dirty="0"/>
              <a:t>Sequence / Collaboration Diagram</a:t>
            </a:r>
          </a:p>
        </p:txBody>
      </p:sp>
      <p:pic>
        <p:nvPicPr>
          <p:cNvPr id="7" name="Content Placeholder 6"/>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65509" y="1371600"/>
            <a:ext cx="3870507" cy="4805363"/>
          </a:xfrm>
          <a:prstGeom prst="rect">
            <a:avLst/>
          </a:prstGeom>
          <a:noFill/>
          <a:ln>
            <a:noFill/>
          </a:ln>
        </p:spPr>
      </p:pic>
    </p:spTree>
    <p:extLst>
      <p:ext uri="{BB962C8B-B14F-4D97-AF65-F5344CB8AC3E}">
        <p14:creationId xmlns:p14="http://schemas.microsoft.com/office/powerpoint/2010/main" val="2505789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11EB9-8A3D-4866-9CB8-47C5C73CB0F7}"/>
              </a:ext>
            </a:extLst>
          </p:cNvPr>
          <p:cNvSpPr>
            <a:spLocks noGrp="1"/>
          </p:cNvSpPr>
          <p:nvPr>
            <p:ph type="title"/>
          </p:nvPr>
        </p:nvSpPr>
        <p:spPr/>
        <p:txBody>
          <a:bodyPr>
            <a:normAutofit/>
          </a:bodyPr>
          <a:lstStyle/>
          <a:p>
            <a:r>
              <a:rPr lang="en-US" dirty="0"/>
              <a:t>Activity Diagram</a:t>
            </a:r>
          </a:p>
        </p:txBody>
      </p:sp>
      <p:pic>
        <p:nvPicPr>
          <p:cNvPr id="4" name="Content Placeholder 3"/>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912961" y="929898"/>
            <a:ext cx="2031947" cy="5532895"/>
          </a:xfrm>
          <a:prstGeom prst="rect">
            <a:avLst/>
          </a:prstGeom>
          <a:noFill/>
          <a:ln>
            <a:noFill/>
          </a:ln>
        </p:spPr>
      </p:pic>
    </p:spTree>
    <p:extLst>
      <p:ext uri="{BB962C8B-B14F-4D97-AF65-F5344CB8AC3E}">
        <p14:creationId xmlns:p14="http://schemas.microsoft.com/office/powerpoint/2010/main" val="571781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a:t>
            </a:r>
          </a:p>
        </p:txBody>
      </p:sp>
      <p:sp>
        <p:nvSpPr>
          <p:cNvPr id="3" name="Content Placeholder 2"/>
          <p:cNvSpPr>
            <a:spLocks noGrp="1"/>
          </p:cNvSpPr>
          <p:nvPr>
            <p:ph idx="1"/>
          </p:nvPr>
        </p:nvSpPr>
        <p:spPr/>
        <p:txBody>
          <a:bodyPr/>
          <a:lstStyle/>
          <a:p>
            <a:r>
              <a:rPr lang="en-US" dirty="0" err="1"/>
              <a:t>HawkEye</a:t>
            </a:r>
            <a:r>
              <a:rPr lang="en-US" dirty="0"/>
              <a:t> was developed using VS Code, Postman, GitHub, and Firebase. Key technologies include React, Flutter, Express.js, JWT, MongoDB Atlas, </a:t>
            </a:r>
            <a:r>
              <a:rPr lang="en-US" dirty="0" err="1"/>
              <a:t>TensorFlow</a:t>
            </a:r>
            <a:r>
              <a:rPr lang="en-US" dirty="0"/>
              <a:t>, </a:t>
            </a:r>
            <a:r>
              <a:rPr lang="en-US" dirty="0" err="1"/>
              <a:t>OpenCV</a:t>
            </a:r>
            <a:r>
              <a:rPr lang="en-US" dirty="0"/>
              <a:t>, and YOLOv8, supported by services such as live camera processing, model training, violation logging, and FCM notifications. </a:t>
            </a:r>
          </a:p>
          <a:p>
            <a:r>
              <a:rPr lang="en-US" dirty="0"/>
              <a:t>Development followed best practices including modular architecture, component-based UI, reusable AI modules, centralized error handling, environment variables, and a structured </a:t>
            </a:r>
            <a:r>
              <a:rPr lang="en-US" dirty="0" err="1"/>
              <a:t>Git</a:t>
            </a:r>
            <a:r>
              <a:rPr lang="en-US" dirty="0"/>
              <a:t> branching strategy to ensure maintainable and scalable code.</a:t>
            </a:r>
          </a:p>
        </p:txBody>
      </p:sp>
    </p:spTree>
    <p:extLst>
      <p:ext uri="{BB962C8B-B14F-4D97-AF65-F5344CB8AC3E}">
        <p14:creationId xmlns:p14="http://schemas.microsoft.com/office/powerpoint/2010/main" val="25363909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dirty="0"/>
              <a:t>Challenges</a:t>
            </a:r>
          </a:p>
        </p:txBody>
      </p:sp>
      <p:sp>
        <p:nvSpPr>
          <p:cNvPr id="10243" name="Content Placeholder 2"/>
          <p:cNvSpPr>
            <a:spLocks noGrp="1"/>
          </p:cNvSpPr>
          <p:nvPr>
            <p:ph idx="1"/>
          </p:nvPr>
        </p:nvSpPr>
        <p:spPr/>
        <p:txBody>
          <a:bodyPr>
            <a:normAutofit fontScale="85000" lnSpcReduction="10000"/>
          </a:bodyPr>
          <a:lstStyle/>
          <a:p>
            <a:r>
              <a:rPr lang="en-US" dirty="0" err="1"/>
              <a:t>HawkEye</a:t>
            </a:r>
            <a:r>
              <a:rPr lang="en-US" dirty="0"/>
              <a:t> faced several challenges during development, including training accurate facial recognition models with limited student images, optimizing AI detection for varied lighting and camera angles, and ensuring reliable fight and weapon detection in real-time. </a:t>
            </a:r>
          </a:p>
          <a:p>
            <a:r>
              <a:rPr lang="en-US" dirty="0"/>
              <a:t>Integrating multiple modules, AI, backend, dashboards, and mobile app while maintaining smooth communication also required careful coordination. </a:t>
            </a:r>
          </a:p>
          <a:p>
            <a:r>
              <a:rPr lang="en-US" dirty="0"/>
              <a:t>Additional challenges included handling large image/video data efficiently, ensuring low-latency alerts, managing false positives in AI detection, and designing a secure, role-based system. </a:t>
            </a:r>
          </a:p>
          <a:p>
            <a:r>
              <a:rPr lang="en-US" dirty="0"/>
              <a:t>Deployment required addressing scalability, stable server performance, and continuous model updates as new students were added.</a:t>
            </a:r>
          </a:p>
        </p:txBody>
      </p:sp>
    </p:spTree>
    <p:extLst>
      <p:ext uri="{BB962C8B-B14F-4D97-AF65-F5344CB8AC3E}">
        <p14:creationId xmlns:p14="http://schemas.microsoft.com/office/powerpoint/2010/main" val="3447967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algn="ctr" eaLnBrk="1" hangingPunct="1"/>
            <a:r>
              <a:rPr lang="en-US" dirty="0"/>
              <a:t>Prototype</a:t>
            </a:r>
          </a:p>
        </p:txBody>
      </p:sp>
      <p:sp>
        <p:nvSpPr>
          <p:cNvPr id="10243" name="Content Placeholder 2"/>
          <p:cNvSpPr>
            <a:spLocks noGrp="1"/>
          </p:cNvSpPr>
          <p:nvPr>
            <p:ph idx="1"/>
          </p:nvPr>
        </p:nvSpPr>
        <p:spPr/>
        <p:txBody>
          <a:bodyPr/>
          <a:lstStyle/>
          <a:p>
            <a:pPr marL="0" indent="0">
              <a:buNone/>
            </a:pPr>
            <a:r>
              <a:rPr lang="en-US" dirty="0">
                <a:hlinkClick r:id="rId2"/>
              </a:rPr>
              <a:t>Prototype Link: Discipline Monitoring System</a:t>
            </a:r>
            <a:endParaRPr lang="en-US" dirty="0"/>
          </a:p>
        </p:txBody>
      </p:sp>
    </p:spTree>
    <p:extLst>
      <p:ext uri="{BB962C8B-B14F-4D97-AF65-F5344CB8AC3E}">
        <p14:creationId xmlns:p14="http://schemas.microsoft.com/office/powerpoint/2010/main" val="8351101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t>Screenshots</a:t>
            </a:r>
            <a:endParaRPr lang="en-US" dirty="0"/>
          </a:p>
        </p:txBody>
      </p:sp>
      <p:pic>
        <p:nvPicPr>
          <p:cNvPr id="3" name="Content Placeholder 2" descr="A screenshot of a graph&#10;&#10;AI-generated content may be incorrect.">
            <a:extLst>
              <a:ext uri="{FF2B5EF4-FFF2-40B4-BE49-F238E27FC236}">
                <a16:creationId xmlns:a16="http://schemas.microsoft.com/office/drawing/2014/main" id="{39311865-1CB7-5B0F-5A4F-84D4C215AE10}"/>
              </a:ext>
            </a:extLst>
          </p:cNvPr>
          <p:cNvPicPr>
            <a:picLocks noGrp="1" noChangeAspect="1"/>
          </p:cNvPicPr>
          <p:nvPr>
            <p:ph idx="1"/>
          </p:nvPr>
        </p:nvPicPr>
        <p:blipFill>
          <a:blip r:embed="rId2"/>
          <a:stretch>
            <a:fillRect/>
          </a:stretch>
        </p:blipFill>
        <p:spPr>
          <a:xfrm>
            <a:off x="1141864" y="1357085"/>
            <a:ext cx="9908271" cy="4805363"/>
          </a:xfrm>
          <a:prstGeom prst="rect">
            <a:avLst/>
          </a:prstGeom>
        </p:spPr>
      </p:pic>
    </p:spTree>
    <p:extLst>
      <p:ext uri="{BB962C8B-B14F-4D97-AF65-F5344CB8AC3E}">
        <p14:creationId xmlns:p14="http://schemas.microsoft.com/office/powerpoint/2010/main" val="15426551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3C4FD-A2C7-09D9-BDB5-D6F46BB30BE2}"/>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F6CFE8FA-4652-94B5-6487-E32250B09DD2}"/>
              </a:ext>
            </a:extLst>
          </p:cNvPr>
          <p:cNvSpPr>
            <a:spLocks noGrp="1"/>
          </p:cNvSpPr>
          <p:nvPr>
            <p:ph type="title"/>
          </p:nvPr>
        </p:nvSpPr>
        <p:spPr/>
        <p:txBody>
          <a:bodyPr/>
          <a:lstStyle/>
          <a:p>
            <a:pPr eaLnBrk="1" hangingPunct="1"/>
            <a:r>
              <a:rPr lang="en-US" dirty="0"/>
              <a:t>Screenshots</a:t>
            </a:r>
          </a:p>
        </p:txBody>
      </p:sp>
      <p:pic>
        <p:nvPicPr>
          <p:cNvPr id="10" name="Content Placeholder 9" descr="A screenshot of a computer&#10;&#10;AI-generated content may be incorrect.">
            <a:extLst>
              <a:ext uri="{FF2B5EF4-FFF2-40B4-BE49-F238E27FC236}">
                <a16:creationId xmlns:a16="http://schemas.microsoft.com/office/drawing/2014/main" id="{D195C600-D973-AB77-209E-723873415823}"/>
              </a:ext>
            </a:extLst>
          </p:cNvPr>
          <p:cNvPicPr>
            <a:picLocks noGrp="1" noChangeAspect="1"/>
          </p:cNvPicPr>
          <p:nvPr>
            <p:ph idx="1"/>
          </p:nvPr>
        </p:nvPicPr>
        <p:blipFill>
          <a:blip r:embed="rId2"/>
          <a:stretch>
            <a:fillRect/>
          </a:stretch>
        </p:blipFill>
        <p:spPr>
          <a:xfrm>
            <a:off x="990726" y="1371600"/>
            <a:ext cx="10220074" cy="4805363"/>
          </a:xfrm>
          <a:prstGeom prst="rect">
            <a:avLst/>
          </a:prstGeom>
        </p:spPr>
      </p:pic>
    </p:spTree>
    <p:extLst>
      <p:ext uri="{BB962C8B-B14F-4D97-AF65-F5344CB8AC3E}">
        <p14:creationId xmlns:p14="http://schemas.microsoft.com/office/powerpoint/2010/main" val="17608944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38712-77A7-EF79-BC54-B35859D91D3A}"/>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55EA8657-FDD3-0D27-F9F1-89CCF0B089B0}"/>
              </a:ext>
            </a:extLst>
          </p:cNvPr>
          <p:cNvSpPr>
            <a:spLocks noGrp="1"/>
          </p:cNvSpPr>
          <p:nvPr>
            <p:ph type="title"/>
          </p:nvPr>
        </p:nvSpPr>
        <p:spPr/>
        <p:txBody>
          <a:bodyPr/>
          <a:lstStyle/>
          <a:p>
            <a:pPr eaLnBrk="1" hangingPunct="1"/>
            <a:r>
              <a:rPr lang="en-US" dirty="0"/>
              <a:t>Screenshots</a:t>
            </a:r>
          </a:p>
        </p:txBody>
      </p:sp>
      <p:pic>
        <p:nvPicPr>
          <p:cNvPr id="5" name="Content Placeholder 4" descr="A screenshot of a computer&#10;&#10;AI-generated content may be incorrect.">
            <a:extLst>
              <a:ext uri="{FF2B5EF4-FFF2-40B4-BE49-F238E27FC236}">
                <a16:creationId xmlns:a16="http://schemas.microsoft.com/office/drawing/2014/main" id="{BB56C102-3405-196D-4E23-1091712111B1}"/>
              </a:ext>
            </a:extLst>
          </p:cNvPr>
          <p:cNvPicPr>
            <a:picLocks noGrp="1" noChangeAspect="1"/>
          </p:cNvPicPr>
          <p:nvPr>
            <p:ph idx="1"/>
          </p:nvPr>
        </p:nvPicPr>
        <p:blipFill>
          <a:blip r:embed="rId2"/>
          <a:stretch>
            <a:fillRect/>
          </a:stretch>
        </p:blipFill>
        <p:spPr>
          <a:xfrm>
            <a:off x="1100791" y="1371600"/>
            <a:ext cx="9999944" cy="4805363"/>
          </a:xfrm>
          <a:prstGeom prst="rect">
            <a:avLst/>
          </a:prstGeom>
        </p:spPr>
      </p:pic>
    </p:spTree>
    <p:extLst>
      <p:ext uri="{BB962C8B-B14F-4D97-AF65-F5344CB8AC3E}">
        <p14:creationId xmlns:p14="http://schemas.microsoft.com/office/powerpoint/2010/main" val="13517011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43A20-3780-83B6-E999-CAC7537D4EFD}"/>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3862B2A9-8DFB-5BE4-8215-91E7521DD0A8}"/>
              </a:ext>
            </a:extLst>
          </p:cNvPr>
          <p:cNvSpPr>
            <a:spLocks noGrp="1"/>
          </p:cNvSpPr>
          <p:nvPr>
            <p:ph type="title"/>
          </p:nvPr>
        </p:nvSpPr>
        <p:spPr/>
        <p:txBody>
          <a:bodyPr/>
          <a:lstStyle/>
          <a:p>
            <a:pPr eaLnBrk="1" hangingPunct="1"/>
            <a:r>
              <a:rPr lang="en-US" dirty="0"/>
              <a:t>Screenshots</a:t>
            </a:r>
          </a:p>
        </p:txBody>
      </p:sp>
      <p:pic>
        <p:nvPicPr>
          <p:cNvPr id="6" name="Content Placeholder 5" descr="A screenshot of a computer&#10;&#10;AI-generated content may be incorrect.">
            <a:extLst>
              <a:ext uri="{FF2B5EF4-FFF2-40B4-BE49-F238E27FC236}">
                <a16:creationId xmlns:a16="http://schemas.microsoft.com/office/drawing/2014/main" id="{2B5342CD-9B99-F80A-DE74-3365FBC64E0E}"/>
              </a:ext>
            </a:extLst>
          </p:cNvPr>
          <p:cNvPicPr>
            <a:picLocks noGrp="1" noChangeAspect="1"/>
          </p:cNvPicPr>
          <p:nvPr>
            <p:ph idx="1"/>
          </p:nvPr>
        </p:nvPicPr>
        <p:blipFill>
          <a:blip r:embed="rId2"/>
          <a:stretch>
            <a:fillRect/>
          </a:stretch>
        </p:blipFill>
        <p:spPr>
          <a:xfrm>
            <a:off x="1066936" y="1371600"/>
            <a:ext cx="10067654" cy="4805363"/>
          </a:xfrm>
          <a:prstGeom prst="rect">
            <a:avLst/>
          </a:prstGeom>
        </p:spPr>
      </p:pic>
    </p:spTree>
    <p:extLst>
      <p:ext uri="{BB962C8B-B14F-4D97-AF65-F5344CB8AC3E}">
        <p14:creationId xmlns:p14="http://schemas.microsoft.com/office/powerpoint/2010/main" val="34618094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B41D8-CEE8-8CF0-4A80-A80155B1DBDC}"/>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A15817F8-A247-6D04-DFA2-E815DEDE02B5}"/>
              </a:ext>
            </a:extLst>
          </p:cNvPr>
          <p:cNvSpPr>
            <a:spLocks noGrp="1"/>
          </p:cNvSpPr>
          <p:nvPr>
            <p:ph type="title"/>
          </p:nvPr>
        </p:nvSpPr>
        <p:spPr/>
        <p:txBody>
          <a:bodyPr/>
          <a:lstStyle/>
          <a:p>
            <a:pPr eaLnBrk="1" hangingPunct="1"/>
            <a:r>
              <a:rPr lang="en-US" dirty="0"/>
              <a:t>Screenshots</a:t>
            </a:r>
          </a:p>
        </p:txBody>
      </p:sp>
      <p:pic>
        <p:nvPicPr>
          <p:cNvPr id="4" name="Content Placeholder 3" descr="A screenshot of a social media account&#10;&#10;AI-generated content may be incorrect.">
            <a:extLst>
              <a:ext uri="{FF2B5EF4-FFF2-40B4-BE49-F238E27FC236}">
                <a16:creationId xmlns:a16="http://schemas.microsoft.com/office/drawing/2014/main" id="{119E6784-824A-1C36-D3E5-869B9BA189D0}"/>
              </a:ext>
            </a:extLst>
          </p:cNvPr>
          <p:cNvPicPr>
            <a:picLocks noGrp="1" noChangeAspect="1"/>
          </p:cNvPicPr>
          <p:nvPr>
            <p:ph idx="1"/>
          </p:nvPr>
        </p:nvPicPr>
        <p:blipFill>
          <a:blip r:embed="rId2"/>
          <a:stretch>
            <a:fillRect/>
          </a:stretch>
        </p:blipFill>
        <p:spPr>
          <a:xfrm>
            <a:off x="1099263" y="1371600"/>
            <a:ext cx="10003000" cy="4805363"/>
          </a:xfrm>
          <a:prstGeom prst="rect">
            <a:avLst/>
          </a:prstGeom>
        </p:spPr>
      </p:pic>
    </p:spTree>
    <p:extLst>
      <p:ext uri="{BB962C8B-B14F-4D97-AF65-F5344CB8AC3E}">
        <p14:creationId xmlns:p14="http://schemas.microsoft.com/office/powerpoint/2010/main" val="1080518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F1682-43E7-AD0D-C644-FEB815662DBD}"/>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3B321E6A-A71C-DF51-9CD4-68E928B34B46}"/>
              </a:ext>
            </a:extLst>
          </p:cNvPr>
          <p:cNvSpPr>
            <a:spLocks noGrp="1"/>
          </p:cNvSpPr>
          <p:nvPr>
            <p:ph type="title"/>
          </p:nvPr>
        </p:nvSpPr>
        <p:spPr/>
        <p:txBody>
          <a:bodyPr/>
          <a:lstStyle/>
          <a:p>
            <a:pPr eaLnBrk="1" hangingPunct="1"/>
            <a:r>
              <a:rPr lang="en-US" dirty="0"/>
              <a:t>Screenshots</a:t>
            </a:r>
          </a:p>
        </p:txBody>
      </p:sp>
      <p:pic>
        <p:nvPicPr>
          <p:cNvPr id="6" name="Content Placeholder 5" descr="A screenshot of a computer&#10;&#10;AI-generated content may be incorrect.">
            <a:extLst>
              <a:ext uri="{FF2B5EF4-FFF2-40B4-BE49-F238E27FC236}">
                <a16:creationId xmlns:a16="http://schemas.microsoft.com/office/drawing/2014/main" id="{046BC1D0-B520-C098-3B3E-32663A0CD44C}"/>
              </a:ext>
            </a:extLst>
          </p:cNvPr>
          <p:cNvPicPr>
            <a:picLocks noGrp="1" noChangeAspect="1"/>
          </p:cNvPicPr>
          <p:nvPr>
            <p:ph idx="1"/>
          </p:nvPr>
        </p:nvPicPr>
        <p:blipFill>
          <a:blip r:embed="rId2"/>
          <a:stretch>
            <a:fillRect/>
          </a:stretch>
        </p:blipFill>
        <p:spPr>
          <a:xfrm>
            <a:off x="876009" y="1371600"/>
            <a:ext cx="10449508" cy="4805363"/>
          </a:xfrm>
          <a:prstGeom prst="rect">
            <a:avLst/>
          </a:prstGeom>
        </p:spPr>
      </p:pic>
    </p:spTree>
    <p:extLst>
      <p:ext uri="{BB962C8B-B14F-4D97-AF65-F5344CB8AC3E}">
        <p14:creationId xmlns:p14="http://schemas.microsoft.com/office/powerpoint/2010/main" val="724081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CE749-CEBD-F60B-CB95-38426B2EBEB1}"/>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3FB0DC1C-F9E4-F3B7-98F8-28C1D1F33931}"/>
              </a:ext>
            </a:extLst>
          </p:cNvPr>
          <p:cNvSpPr>
            <a:spLocks noGrp="1"/>
          </p:cNvSpPr>
          <p:nvPr>
            <p:ph type="title"/>
          </p:nvPr>
        </p:nvSpPr>
        <p:spPr/>
        <p:txBody>
          <a:bodyPr/>
          <a:lstStyle/>
          <a:p>
            <a:pPr eaLnBrk="1" hangingPunct="1"/>
            <a:r>
              <a:rPr lang="en-US" dirty="0"/>
              <a:t>Screenshots</a:t>
            </a:r>
          </a:p>
        </p:txBody>
      </p:sp>
      <p:pic>
        <p:nvPicPr>
          <p:cNvPr id="5" name="Content Placeholder 4" descr="A screenshot of a computer&#10;&#10;AI-generated content may be incorrect.">
            <a:extLst>
              <a:ext uri="{FF2B5EF4-FFF2-40B4-BE49-F238E27FC236}">
                <a16:creationId xmlns:a16="http://schemas.microsoft.com/office/drawing/2014/main" id="{5E7F46E2-7F3B-30DA-E62D-89F49A284D86}"/>
              </a:ext>
            </a:extLst>
          </p:cNvPr>
          <p:cNvPicPr>
            <a:picLocks noGrp="1" noChangeAspect="1"/>
          </p:cNvPicPr>
          <p:nvPr>
            <p:ph idx="1"/>
          </p:nvPr>
        </p:nvPicPr>
        <p:blipFill>
          <a:blip r:embed="rId2"/>
          <a:stretch>
            <a:fillRect/>
          </a:stretch>
        </p:blipFill>
        <p:spPr>
          <a:xfrm>
            <a:off x="1030537" y="1371600"/>
            <a:ext cx="10140451" cy="4805363"/>
          </a:xfrm>
          <a:prstGeom prst="rect">
            <a:avLst/>
          </a:prstGeom>
        </p:spPr>
      </p:pic>
    </p:spTree>
    <p:extLst>
      <p:ext uri="{BB962C8B-B14F-4D97-AF65-F5344CB8AC3E}">
        <p14:creationId xmlns:p14="http://schemas.microsoft.com/office/powerpoint/2010/main" val="40551751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3C69A-2D6F-4E40-B1C5-7A86FE927D36}"/>
              </a:ext>
            </a:extLst>
          </p:cNvPr>
          <p:cNvSpPr>
            <a:spLocks noGrp="1"/>
          </p:cNvSpPr>
          <p:nvPr>
            <p:ph type="title"/>
          </p:nvPr>
        </p:nvSpPr>
        <p:spPr/>
        <p:txBody>
          <a:bodyPr/>
          <a:lstStyle/>
          <a:p>
            <a:r>
              <a:rPr lang="en-US" dirty="0"/>
              <a:t>Report</a:t>
            </a:r>
          </a:p>
        </p:txBody>
      </p:sp>
      <p:sp>
        <p:nvSpPr>
          <p:cNvPr id="3" name="Content Placeholder 2">
            <a:extLst>
              <a:ext uri="{FF2B5EF4-FFF2-40B4-BE49-F238E27FC236}">
                <a16:creationId xmlns:a16="http://schemas.microsoft.com/office/drawing/2014/main" id="{FF2EE507-A0F5-4FAB-96CE-9826EC8E669A}"/>
              </a:ext>
            </a:extLst>
          </p:cNvPr>
          <p:cNvSpPr>
            <a:spLocks noGrp="1"/>
          </p:cNvSpPr>
          <p:nvPr>
            <p:ph idx="1"/>
          </p:nvPr>
        </p:nvSpPr>
        <p:spPr/>
        <p:txBody>
          <a:bodyPr/>
          <a:lstStyle/>
          <a:p>
            <a:pPr marL="0" indent="0">
              <a:buNone/>
            </a:pPr>
            <a:r>
              <a:rPr lang="en-US" dirty="0" err="1" smtClean="0">
                <a:hlinkClick r:id="rId2"/>
              </a:rPr>
              <a:t>Github</a:t>
            </a:r>
            <a:r>
              <a:rPr lang="en-US" dirty="0" smtClean="0">
                <a:hlinkClick r:id="rId2"/>
              </a:rPr>
              <a:t> Repository Link</a:t>
            </a:r>
            <a:endParaRPr lang="en-US" dirty="0"/>
          </a:p>
        </p:txBody>
      </p:sp>
    </p:spTree>
    <p:extLst>
      <p:ext uri="{BB962C8B-B14F-4D97-AF65-F5344CB8AC3E}">
        <p14:creationId xmlns:p14="http://schemas.microsoft.com/office/powerpoint/2010/main" val="2803452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1641</TotalTime>
  <Words>809</Words>
  <Application>Microsoft Office PowerPoint</Application>
  <PresentationFormat>Widescreen</PresentationFormat>
  <Paragraphs>106</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Courier New</vt:lpstr>
      <vt:lpstr>Segoe UI</vt:lpstr>
      <vt:lpstr>Segoe UI Light</vt:lpstr>
      <vt:lpstr>Wingdings</vt:lpstr>
      <vt:lpstr>Office Theme</vt:lpstr>
      <vt:lpstr>Final Year Project:  HawkEye</vt:lpstr>
      <vt:lpstr>Project Team</vt:lpstr>
      <vt:lpstr>Table of Content</vt:lpstr>
      <vt:lpstr>Introduction &amp; Background</vt:lpstr>
      <vt:lpstr>Problem Statement</vt:lpstr>
      <vt:lpstr>Solution</vt:lpstr>
      <vt:lpstr>Features and Scope</vt:lpstr>
      <vt:lpstr>Requirements</vt:lpstr>
      <vt:lpstr>Requirements</vt:lpstr>
      <vt:lpstr>Use Case Diagram: System</vt:lpstr>
      <vt:lpstr>Use Case Diagram: Student</vt:lpstr>
      <vt:lpstr>Use Case Diagram: Admin</vt:lpstr>
      <vt:lpstr>Use Case Diagram: Discipline Incharge</vt:lpstr>
      <vt:lpstr>Use Case Diagram: AI System</vt:lpstr>
      <vt:lpstr>Functional &amp; Non Functional Requirements</vt:lpstr>
      <vt:lpstr>System Design</vt:lpstr>
      <vt:lpstr>Architecture Design</vt:lpstr>
      <vt:lpstr>Entity Relationship Diagram</vt:lpstr>
      <vt:lpstr>Class Diagram</vt:lpstr>
      <vt:lpstr>Sequence / Collaboration Diagram</vt:lpstr>
      <vt:lpstr>Sequence / Collaboration Diagram</vt:lpstr>
      <vt:lpstr>Activity Diagram</vt:lpstr>
      <vt:lpstr>Implementation</vt:lpstr>
      <vt:lpstr>Challenges</vt:lpstr>
      <vt:lpstr>Prototype</vt:lpstr>
      <vt:lpstr>Screenshots</vt:lpstr>
      <vt:lpstr>Screenshots</vt:lpstr>
      <vt:lpstr>Screenshots</vt:lpstr>
      <vt:lpstr>Screenshots</vt:lpstr>
      <vt:lpstr>Screenshots</vt:lpstr>
      <vt:lpstr>Screenshots</vt:lpstr>
      <vt:lpstr>Screenshots</vt:lpstr>
      <vt:lpstr>Report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Sheheryar Malik</dc:creator>
  <cp:lastModifiedBy>Daniyal Wajid</cp:lastModifiedBy>
  <cp:revision>577</cp:revision>
  <cp:lastPrinted>2017-10-31T06:19:01Z</cp:lastPrinted>
  <dcterms:created xsi:type="dcterms:W3CDTF">2017-10-28T17:48:40Z</dcterms:created>
  <dcterms:modified xsi:type="dcterms:W3CDTF">2025-12-12T20:10:42Z</dcterms:modified>
</cp:coreProperties>
</file>